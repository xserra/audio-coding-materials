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8"/>
  </p:notesMasterIdLst>
  <p:sldIdLst>
    <p:sldId id="256" r:id="rId2"/>
    <p:sldId id="257" r:id="rId3"/>
    <p:sldId id="275"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7" r:id="rId21"/>
    <p:sldId id="279" r:id="rId22"/>
    <p:sldId id="280" r:id="rId23"/>
    <p:sldId id="281" r:id="rId24"/>
    <p:sldId id="278" r:id="rId25"/>
    <p:sldId id="274" r:id="rId26"/>
    <p:sldId id="276" r:id="rId27"/>
  </p:sldIdLst>
  <p:sldSz cx="9144000" cy="5143500" type="screen16x9"/>
  <p:notesSz cx="6858000" cy="9144000"/>
  <p:embeddedFontLst>
    <p:embeddedFont>
      <p:font typeface="Lato" panose="020F0502020204030203" pitchFamily="34" charset="0"/>
      <p:regular r:id="rId29"/>
      <p:bold r:id="rId30"/>
      <p:italic r:id="rId31"/>
      <p:boldItalic r:id="rId32"/>
    </p:embeddedFont>
    <p:embeddedFont>
      <p:font typeface="Raleway" pitchFamily="2" charset="77"/>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317"/>
    <p:restoredTop sz="94656"/>
  </p:normalViewPr>
  <p:slideViewPr>
    <p:cSldViewPr snapToGrid="0">
      <p:cViewPr varScale="1">
        <p:scale>
          <a:sx n="162" d="100"/>
          <a:sy n="162" d="100"/>
        </p:scale>
        <p:origin x="208" y="48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5.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font" Target="fonts/font7.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f5fd4ba4c7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f5fd4ba4c7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f3ba97deb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f3ba97deb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2f3ba97deb3_0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2f3ba97deb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fcff38b0c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fcff38b0c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2fd395eea33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2fd395eea33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2fd395eea33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2fd395eea33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fd395eea33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fd395eea33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2fd395eea33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2fd395eea33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fd395eea33_0_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fd395eea33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2fd395eea33_0_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2fd395eea33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2fd395eea33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2fd395eea33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fd395eea33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fd395eea33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fd395eea3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fd395eea3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2fd395eea33_0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2fd395eea33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fd395eea33_0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fd395eea33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2fd395eea33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2fd395eea33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fd395eea33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fd395eea33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2fd395eea33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g2fd395eea3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xserra/audio-coding-materials/" TargetMode="External"/><Relationship Id="rId2" Type="http://schemas.openxmlformats.org/officeDocument/2006/relationships/hyperlink" Target="https://pytorch.org/"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a:t>6. Neural </a:t>
            </a:r>
            <a:endParaRPr/>
          </a:p>
          <a:p>
            <a:pPr marL="0" lvl="0" indent="0" algn="ctr" rtl="0">
              <a:spcBef>
                <a:spcPts val="0"/>
              </a:spcBef>
              <a:spcAft>
                <a:spcPts val="0"/>
              </a:spcAft>
              <a:buNone/>
            </a:pPr>
            <a:r>
              <a:rPr lang="en"/>
              <a:t>audio compression</a:t>
            </a:r>
            <a:endParaRPr/>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a:t>Xavier Serra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Index</a:t>
            </a:r>
            <a:endParaRPr/>
          </a:p>
        </p:txBody>
      </p:sp>
      <p:sp>
        <p:nvSpPr>
          <p:cNvPr id="61" name="Google Shape;61;p14"/>
          <p:cNvSpPr txBox="1">
            <a:spLocks noGrp="1"/>
          </p:cNvSpPr>
          <p:nvPr>
            <p:ph type="body" idx="1"/>
          </p:nvPr>
        </p:nvSpPr>
        <p:spPr>
          <a:xfrm>
            <a:off x="187700" y="1131800"/>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err="1"/>
              <a:t>SoundStream</a:t>
            </a:r>
            <a:r>
              <a:rPr lang="en" dirty="0"/>
              <a:t> and </a:t>
            </a:r>
            <a:r>
              <a:rPr lang="en" dirty="0" err="1"/>
              <a:t>EnCoded</a:t>
            </a:r>
            <a:r>
              <a:rPr lang="en" dirty="0"/>
              <a:t> systems</a:t>
            </a:r>
            <a:endParaRPr dirty="0"/>
          </a:p>
          <a:p>
            <a:pPr marL="457200" lvl="0" indent="-342900" algn="l" rtl="0">
              <a:spcBef>
                <a:spcPts val="0"/>
              </a:spcBef>
              <a:spcAft>
                <a:spcPts val="0"/>
              </a:spcAft>
              <a:buSzPts val="1800"/>
              <a:buChar char="●"/>
            </a:pPr>
            <a:r>
              <a:rPr lang="en" dirty="0"/>
              <a:t>Convolutional Neural Networks (CNN)</a:t>
            </a:r>
            <a:endParaRPr dirty="0"/>
          </a:p>
          <a:p>
            <a:pPr marL="457200" lvl="0" indent="-342900" algn="l" rtl="0">
              <a:spcBef>
                <a:spcPts val="0"/>
              </a:spcBef>
              <a:spcAft>
                <a:spcPts val="0"/>
              </a:spcAft>
              <a:buSzPts val="1800"/>
              <a:buChar char="●"/>
            </a:pPr>
            <a:r>
              <a:rPr lang="en" dirty="0"/>
              <a:t>Convolutional Auto Encoder (CAE)</a:t>
            </a:r>
          </a:p>
          <a:p>
            <a:pPr marL="457200" lvl="0" indent="-342900" algn="l" rtl="0">
              <a:spcBef>
                <a:spcPts val="0"/>
              </a:spcBef>
              <a:spcAft>
                <a:spcPts val="0"/>
              </a:spcAft>
              <a:buSzPts val="1800"/>
              <a:buChar char="●"/>
            </a:pPr>
            <a:r>
              <a:rPr lang="en" dirty="0"/>
              <a:t>Implementation (</a:t>
            </a:r>
            <a:r>
              <a:rPr lang="en" dirty="0" err="1"/>
              <a:t>Pytorch</a:t>
            </a:r>
            <a:r>
              <a:rPr lang="en" dirty="0"/>
              <a:t>)</a:t>
            </a:r>
            <a:endParaRPr dirty="0"/>
          </a:p>
          <a:p>
            <a:pPr marL="457200" lvl="0" indent="-342900" algn="l" rtl="0">
              <a:spcBef>
                <a:spcPts val="0"/>
              </a:spcBef>
              <a:spcAft>
                <a:spcPts val="0"/>
              </a:spcAft>
              <a:buSzPts val="1800"/>
              <a:buChar char="●"/>
            </a:pPr>
            <a:r>
              <a:rPr lang="en" dirty="0"/>
              <a:t>Challenges (current limitations)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F2986-0C51-ED08-00FE-960C6B262334}"/>
              </a:ext>
            </a:extLst>
          </p:cNvPr>
          <p:cNvSpPr>
            <a:spLocks noGrp="1"/>
          </p:cNvSpPr>
          <p:nvPr>
            <p:ph type="title"/>
          </p:nvPr>
        </p:nvSpPr>
        <p:spPr>
          <a:xfrm>
            <a:off x="311700" y="243857"/>
            <a:ext cx="8520600" cy="572700"/>
          </a:xfrm>
        </p:spPr>
        <p:txBody>
          <a:bodyPr>
            <a:normAutofit fontScale="90000"/>
          </a:bodyPr>
          <a:lstStyle/>
          <a:p>
            <a:r>
              <a:rPr lang="en-US" dirty="0" err="1"/>
              <a:t>SoundStream</a:t>
            </a:r>
            <a:endParaRPr lang="en-US" dirty="0"/>
          </a:p>
        </p:txBody>
      </p:sp>
      <p:pic>
        <p:nvPicPr>
          <p:cNvPr id="5" name="Picture 4" descr="A screenshot of a computer&#10;&#10;Description automatically generated">
            <a:extLst>
              <a:ext uri="{FF2B5EF4-FFF2-40B4-BE49-F238E27FC236}">
                <a16:creationId xmlns:a16="http://schemas.microsoft.com/office/drawing/2014/main" id="{C9B50DEF-A48D-C963-778F-152408BF80B4}"/>
              </a:ext>
            </a:extLst>
          </p:cNvPr>
          <p:cNvPicPr>
            <a:picLocks noChangeAspect="1"/>
          </p:cNvPicPr>
          <p:nvPr/>
        </p:nvPicPr>
        <p:blipFill>
          <a:blip r:embed="rId2"/>
          <a:stretch>
            <a:fillRect/>
          </a:stretch>
        </p:blipFill>
        <p:spPr>
          <a:xfrm>
            <a:off x="532737" y="963955"/>
            <a:ext cx="7772400" cy="2508865"/>
          </a:xfrm>
          <a:prstGeom prst="rect">
            <a:avLst/>
          </a:prstGeom>
        </p:spPr>
      </p:pic>
      <p:sp>
        <p:nvSpPr>
          <p:cNvPr id="6" name="Google Shape;89;p17">
            <a:extLst>
              <a:ext uri="{FF2B5EF4-FFF2-40B4-BE49-F238E27FC236}">
                <a16:creationId xmlns:a16="http://schemas.microsoft.com/office/drawing/2014/main" id="{F83BD961-774E-7A5A-19C7-B7D2894EEB84}"/>
              </a:ext>
            </a:extLst>
          </p:cNvPr>
          <p:cNvSpPr txBox="1">
            <a:spLocks noGrp="1"/>
          </p:cNvSpPr>
          <p:nvPr>
            <p:ph type="body" idx="1"/>
          </p:nvPr>
        </p:nvSpPr>
        <p:spPr>
          <a:xfrm>
            <a:off x="421419" y="3803114"/>
            <a:ext cx="8410881" cy="1096529"/>
          </a:xfrm>
          <a:prstGeom prst="rect">
            <a:avLst/>
          </a:prstGeom>
        </p:spPr>
        <p:txBody>
          <a:bodyPr spcFirstLastPara="1" wrap="square" lIns="91425" tIns="91425" rIns="91425" bIns="91425" anchor="t" anchorCtr="0">
            <a:normAutofit fontScale="85000" lnSpcReduction="10000"/>
          </a:bodyPr>
          <a:lstStyle/>
          <a:p>
            <a:pPr marL="114300" lvl="0" indent="0" algn="l" rtl="0">
              <a:spcBef>
                <a:spcPts val="0"/>
              </a:spcBef>
              <a:spcAft>
                <a:spcPts val="0"/>
              </a:spcAft>
              <a:buSzPts val="1800"/>
              <a:buNone/>
            </a:pPr>
            <a:r>
              <a:rPr lang="en-GB" noProof="0" dirty="0"/>
              <a:t>A convolutional encoder produces a latent representation of the input audio simples, which is quantized using a variable number of residual vector quantizers (RVQ). During training, the model parameters are optimized using a combination of reconstruction and adversarial losses.</a:t>
            </a:r>
          </a:p>
        </p:txBody>
      </p:sp>
    </p:spTree>
    <p:extLst>
      <p:ext uri="{BB962C8B-B14F-4D97-AF65-F5344CB8AC3E}">
        <p14:creationId xmlns:p14="http://schemas.microsoft.com/office/powerpoint/2010/main" val="1962633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2164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Encodec</a:t>
            </a:r>
            <a:endParaRPr/>
          </a:p>
        </p:txBody>
      </p:sp>
      <p:pic>
        <p:nvPicPr>
          <p:cNvPr id="67" name="Google Shape;67;p15"/>
          <p:cNvPicPr preferRelativeResize="0"/>
          <p:nvPr/>
        </p:nvPicPr>
        <p:blipFill>
          <a:blip r:embed="rId3">
            <a:alphaModFix/>
          </a:blip>
          <a:stretch>
            <a:fillRect/>
          </a:stretch>
        </p:blipFill>
        <p:spPr>
          <a:xfrm>
            <a:off x="1143000" y="1364225"/>
            <a:ext cx="7263526" cy="3128976"/>
          </a:xfrm>
          <a:prstGeom prst="rect">
            <a:avLst/>
          </a:prstGeom>
          <a:noFill/>
          <a:ln>
            <a:noFill/>
          </a:ln>
        </p:spPr>
      </p:pic>
      <p:sp>
        <p:nvSpPr>
          <p:cNvPr id="68" name="Google Shape;68;p15"/>
          <p:cNvSpPr/>
          <p:nvPr/>
        </p:nvSpPr>
        <p:spPr>
          <a:xfrm>
            <a:off x="285600" y="1364225"/>
            <a:ext cx="857400" cy="333000"/>
          </a:xfrm>
          <a:prstGeom prst="roundRect">
            <a:avLst>
              <a:gd name="adj" fmla="val 16667"/>
            </a:avLst>
          </a:prstGeom>
          <a:solidFill>
            <a:srgbClr val="B6D7A8"/>
          </a:solidFill>
          <a:ln w="9525" cap="flat" cmpd="sng">
            <a:solidFill>
              <a:srgbClr val="1A1A1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endParaRPr sz="800" b="1">
              <a:latin typeface="Raleway"/>
              <a:ea typeface="Raleway"/>
              <a:cs typeface="Raleway"/>
              <a:sym typeface="Raleway"/>
            </a:endParaRPr>
          </a:p>
          <a:p>
            <a:pPr marL="0" lvl="0" indent="0" algn="ctr" rtl="0">
              <a:lnSpc>
                <a:spcPct val="115000"/>
              </a:lnSpc>
              <a:spcBef>
                <a:spcPts val="0"/>
              </a:spcBef>
              <a:spcAft>
                <a:spcPts val="0"/>
              </a:spcAft>
              <a:buNone/>
            </a:pPr>
            <a:r>
              <a:rPr lang="en" sz="800" b="1">
                <a:latin typeface="Raleway"/>
                <a:ea typeface="Raleway"/>
                <a:cs typeface="Raleway"/>
                <a:sym typeface="Raleway"/>
              </a:rPr>
              <a:t>24000 Hz</a:t>
            </a:r>
            <a:endParaRPr/>
          </a:p>
          <a:p>
            <a:pPr marL="0" lvl="0" indent="0" algn="l" rtl="0">
              <a:spcBef>
                <a:spcPts val="0"/>
              </a:spcBef>
              <a:spcAft>
                <a:spcPts val="0"/>
              </a:spcAft>
              <a:buNone/>
            </a:pPr>
            <a:endParaRPr/>
          </a:p>
        </p:txBody>
      </p:sp>
      <p:cxnSp>
        <p:nvCxnSpPr>
          <p:cNvPr id="69" name="Google Shape;69;p15"/>
          <p:cNvCxnSpPr>
            <a:stCxn id="68" idx="3"/>
          </p:cNvCxnSpPr>
          <p:nvPr/>
        </p:nvCxnSpPr>
        <p:spPr>
          <a:xfrm>
            <a:off x="1143000" y="1530725"/>
            <a:ext cx="836700" cy="1014900"/>
          </a:xfrm>
          <a:prstGeom prst="straightConnector1">
            <a:avLst/>
          </a:prstGeom>
          <a:noFill/>
          <a:ln w="9525" cap="flat" cmpd="sng">
            <a:solidFill>
              <a:srgbClr val="1A1A1A"/>
            </a:solidFill>
            <a:prstDash val="solid"/>
            <a:round/>
            <a:headEnd type="none" w="med" len="med"/>
            <a:tailEnd type="triangle" w="med" len="med"/>
          </a:ln>
        </p:spPr>
      </p:cxnSp>
      <p:sp>
        <p:nvSpPr>
          <p:cNvPr id="70" name="Google Shape;70;p15"/>
          <p:cNvSpPr/>
          <p:nvPr/>
        </p:nvSpPr>
        <p:spPr>
          <a:xfrm>
            <a:off x="3211325" y="736475"/>
            <a:ext cx="857400" cy="333000"/>
          </a:xfrm>
          <a:prstGeom prst="roundRect">
            <a:avLst>
              <a:gd name="adj" fmla="val 16667"/>
            </a:avLst>
          </a:prstGeom>
          <a:solidFill>
            <a:srgbClr val="B6D7A8"/>
          </a:solidFill>
          <a:ln w="9525" cap="flat" cmpd="sng">
            <a:solidFill>
              <a:srgbClr val="1A1A1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endParaRPr sz="800" b="1">
              <a:latin typeface="Raleway"/>
              <a:ea typeface="Raleway"/>
              <a:cs typeface="Raleway"/>
              <a:sym typeface="Raleway"/>
            </a:endParaRPr>
          </a:p>
          <a:p>
            <a:pPr marL="0" lvl="0" indent="0" algn="ctr" rtl="0">
              <a:lnSpc>
                <a:spcPct val="115000"/>
              </a:lnSpc>
              <a:spcBef>
                <a:spcPts val="0"/>
              </a:spcBef>
              <a:spcAft>
                <a:spcPts val="0"/>
              </a:spcAft>
              <a:buNone/>
            </a:pPr>
            <a:r>
              <a:rPr lang="en" sz="800" b="1">
                <a:latin typeface="Raleway"/>
                <a:ea typeface="Raleway"/>
                <a:cs typeface="Raleway"/>
                <a:sym typeface="Raleway"/>
              </a:rPr>
              <a:t>75 Hz</a:t>
            </a:r>
            <a:endParaRPr/>
          </a:p>
          <a:p>
            <a:pPr marL="0" lvl="0" indent="0" algn="l" rtl="0">
              <a:spcBef>
                <a:spcPts val="0"/>
              </a:spcBef>
              <a:spcAft>
                <a:spcPts val="0"/>
              </a:spcAft>
              <a:buNone/>
            </a:pPr>
            <a:endParaRPr/>
          </a:p>
        </p:txBody>
      </p:sp>
      <p:cxnSp>
        <p:nvCxnSpPr>
          <p:cNvPr id="71" name="Google Shape;71;p15"/>
          <p:cNvCxnSpPr>
            <a:stCxn id="70" idx="2"/>
          </p:cNvCxnSpPr>
          <p:nvPr/>
        </p:nvCxnSpPr>
        <p:spPr>
          <a:xfrm flipH="1">
            <a:off x="3213125" y="1069475"/>
            <a:ext cx="426900" cy="1174200"/>
          </a:xfrm>
          <a:prstGeom prst="straightConnector1">
            <a:avLst/>
          </a:prstGeom>
          <a:noFill/>
          <a:ln w="9525" cap="flat" cmpd="sng">
            <a:solidFill>
              <a:srgbClr val="1A1A1A"/>
            </a:solidFill>
            <a:prstDash val="solid"/>
            <a:round/>
            <a:headEnd type="none" w="med" len="med"/>
            <a:tailEnd type="triangle" w="med" len="med"/>
          </a:ln>
        </p:spPr>
      </p:cxnSp>
      <p:sp>
        <p:nvSpPr>
          <p:cNvPr id="72" name="Google Shape;72;p15"/>
          <p:cNvSpPr/>
          <p:nvPr/>
        </p:nvSpPr>
        <p:spPr>
          <a:xfrm>
            <a:off x="2555825" y="4160200"/>
            <a:ext cx="857400" cy="278700"/>
          </a:xfrm>
          <a:prstGeom prst="roundRect">
            <a:avLst>
              <a:gd name="adj" fmla="val 16667"/>
            </a:avLst>
          </a:prstGeom>
          <a:solidFill>
            <a:srgbClr val="00FF00"/>
          </a:solidFill>
          <a:ln w="9525" cap="flat" cmpd="sng">
            <a:solidFill>
              <a:srgbClr val="1A1A1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endParaRPr sz="800" b="1">
              <a:latin typeface="Raleway"/>
              <a:ea typeface="Raleway"/>
              <a:cs typeface="Raleway"/>
              <a:sym typeface="Raleway"/>
            </a:endParaRPr>
          </a:p>
          <a:p>
            <a:pPr marL="0" lvl="0" indent="0" algn="ctr" rtl="0">
              <a:lnSpc>
                <a:spcPct val="115000"/>
              </a:lnSpc>
              <a:spcBef>
                <a:spcPts val="0"/>
              </a:spcBef>
              <a:spcAft>
                <a:spcPts val="0"/>
              </a:spcAft>
              <a:buNone/>
            </a:pPr>
            <a:r>
              <a:rPr lang="en" sz="800" b="1">
                <a:latin typeface="Raleway"/>
                <a:ea typeface="Raleway"/>
                <a:cs typeface="Raleway"/>
                <a:sym typeface="Raleway"/>
              </a:rPr>
              <a:t>RNN</a:t>
            </a:r>
            <a:endParaRPr/>
          </a:p>
          <a:p>
            <a:pPr marL="0" lvl="0" indent="0" algn="l" rtl="0">
              <a:spcBef>
                <a:spcPts val="0"/>
              </a:spcBef>
              <a:spcAft>
                <a:spcPts val="0"/>
              </a:spcAft>
              <a:buNone/>
            </a:pPr>
            <a:endParaRPr/>
          </a:p>
        </p:txBody>
      </p:sp>
      <p:cxnSp>
        <p:nvCxnSpPr>
          <p:cNvPr id="73" name="Google Shape;73;p15"/>
          <p:cNvCxnSpPr>
            <a:stCxn id="72" idx="0"/>
          </p:cNvCxnSpPr>
          <p:nvPr/>
        </p:nvCxnSpPr>
        <p:spPr>
          <a:xfrm rot="10800000">
            <a:off x="2904725" y="3168700"/>
            <a:ext cx="79800" cy="991500"/>
          </a:xfrm>
          <a:prstGeom prst="straightConnector1">
            <a:avLst/>
          </a:prstGeom>
          <a:noFill/>
          <a:ln w="9525" cap="flat" cmpd="sng">
            <a:solidFill>
              <a:srgbClr val="1A1A1A"/>
            </a:solidFill>
            <a:prstDash val="solid"/>
            <a:round/>
            <a:headEnd type="none" w="med" len="med"/>
            <a:tailEnd type="triangle" w="med" len="med"/>
          </a:ln>
        </p:spPr>
      </p:cxnSp>
      <p:sp>
        <p:nvSpPr>
          <p:cNvPr id="74" name="Google Shape;74;p15"/>
          <p:cNvSpPr/>
          <p:nvPr/>
        </p:nvSpPr>
        <p:spPr>
          <a:xfrm>
            <a:off x="3213125" y="2089477"/>
            <a:ext cx="1755000" cy="1560300"/>
          </a:xfrm>
          <a:prstGeom prst="ellipse">
            <a:avLst/>
          </a:prstGeom>
          <a:solidFill>
            <a:srgbClr val="9000BF">
              <a:alpha val="28930"/>
            </a:srgbClr>
          </a:solidFill>
          <a:ln w="9525" cap="flat" cmpd="sng">
            <a:solidFill>
              <a:srgbClr val="1A1A1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 name="Google Shape;75;p15"/>
          <p:cNvCxnSpPr>
            <a:stCxn id="74" idx="7"/>
          </p:cNvCxnSpPr>
          <p:nvPr/>
        </p:nvCxnSpPr>
        <p:spPr>
          <a:xfrm rot="10800000" flipH="1">
            <a:off x="4711111" y="1003977"/>
            <a:ext cx="833400" cy="1314000"/>
          </a:xfrm>
          <a:prstGeom prst="straightConnector1">
            <a:avLst/>
          </a:prstGeom>
          <a:noFill/>
          <a:ln w="9525" cap="flat" cmpd="sng">
            <a:solidFill>
              <a:srgbClr val="1A1A1A"/>
            </a:solidFill>
            <a:prstDash val="solid"/>
            <a:round/>
            <a:headEnd type="none" w="med" len="med"/>
            <a:tailEnd type="triangle" w="med" len="med"/>
          </a:ln>
        </p:spPr>
      </p:cxnSp>
      <p:sp>
        <p:nvSpPr>
          <p:cNvPr id="76" name="Google Shape;76;p15"/>
          <p:cNvSpPr/>
          <p:nvPr/>
        </p:nvSpPr>
        <p:spPr>
          <a:xfrm>
            <a:off x="5090550" y="670975"/>
            <a:ext cx="1187700" cy="333000"/>
          </a:xfrm>
          <a:prstGeom prst="roundRect">
            <a:avLst>
              <a:gd name="adj" fmla="val 16667"/>
            </a:avLst>
          </a:prstGeom>
          <a:solidFill>
            <a:srgbClr val="9000BF">
              <a:alpha val="28930"/>
            </a:srgbClr>
          </a:solidFill>
          <a:ln w="9525" cap="flat" cmpd="sng">
            <a:solidFill>
              <a:srgbClr val="1A1A1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endParaRPr sz="800" b="1">
              <a:latin typeface="Raleway"/>
              <a:ea typeface="Raleway"/>
              <a:cs typeface="Raleway"/>
              <a:sym typeface="Raleway"/>
            </a:endParaRPr>
          </a:p>
          <a:p>
            <a:pPr marL="0" lvl="0" indent="0" algn="ctr" rtl="0">
              <a:lnSpc>
                <a:spcPct val="115000"/>
              </a:lnSpc>
              <a:spcBef>
                <a:spcPts val="0"/>
              </a:spcBef>
              <a:spcAft>
                <a:spcPts val="0"/>
              </a:spcAft>
              <a:buNone/>
            </a:pPr>
            <a:r>
              <a:rPr lang="en" sz="800" b="1">
                <a:latin typeface="Raleway"/>
                <a:ea typeface="Raleway"/>
                <a:cs typeface="Raleway"/>
                <a:sym typeface="Raleway"/>
              </a:rPr>
              <a:t>Key component</a:t>
            </a:r>
            <a:endParaRPr/>
          </a:p>
          <a:p>
            <a:pPr marL="0" lvl="0" indent="0" algn="l" rtl="0">
              <a:spcBef>
                <a:spcPts val="0"/>
              </a:spcBef>
              <a:spcAft>
                <a:spcPts val="0"/>
              </a:spcAft>
              <a:buNone/>
            </a:pPr>
            <a:endParaRPr/>
          </a:p>
        </p:txBody>
      </p:sp>
      <p:sp>
        <p:nvSpPr>
          <p:cNvPr id="77" name="Google Shape;77;p15"/>
          <p:cNvSpPr txBox="1"/>
          <p:nvPr/>
        </p:nvSpPr>
        <p:spPr>
          <a:xfrm>
            <a:off x="0" y="381000"/>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Lato"/>
              <a:ea typeface="Lato"/>
              <a:cs typeface="Lato"/>
              <a:sym typeface="La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Results</a:t>
            </a:r>
            <a:endParaRPr/>
          </a:p>
        </p:txBody>
      </p:sp>
      <p:pic>
        <p:nvPicPr>
          <p:cNvPr id="83" name="Google Shape;83;p16"/>
          <p:cNvPicPr preferRelativeResize="0"/>
          <p:nvPr/>
        </p:nvPicPr>
        <p:blipFill>
          <a:blip r:embed="rId3">
            <a:alphaModFix/>
          </a:blip>
          <a:stretch>
            <a:fillRect/>
          </a:stretch>
        </p:blipFill>
        <p:spPr>
          <a:xfrm>
            <a:off x="563475" y="1591075"/>
            <a:ext cx="8112875" cy="29475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a:spLocks noGrp="1"/>
          </p:cNvSpPr>
          <p:nvPr>
            <p:ph type="title"/>
          </p:nvPr>
        </p:nvSpPr>
        <p:spPr>
          <a:xfrm>
            <a:off x="311700" y="1955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Convolutional Neural Networks (CNN)</a:t>
            </a:r>
            <a:endParaRPr/>
          </a:p>
        </p:txBody>
      </p:sp>
      <p:sp>
        <p:nvSpPr>
          <p:cNvPr id="89" name="Google Shape;89;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CNNs are used to detect patterns and structures in data.</a:t>
            </a:r>
            <a:endParaRPr dirty="0"/>
          </a:p>
          <a:p>
            <a:pPr marL="457200" lvl="0" indent="-342900" algn="l" rtl="0">
              <a:spcBef>
                <a:spcPts val="0"/>
              </a:spcBef>
              <a:spcAft>
                <a:spcPts val="0"/>
              </a:spcAft>
              <a:buSzPts val="1800"/>
              <a:buChar char="●"/>
            </a:pPr>
            <a:r>
              <a:rPr lang="en" dirty="0"/>
              <a:t>Originally developed for images, but widely applied to audio.</a:t>
            </a:r>
            <a:endParaRPr dirty="0"/>
          </a:p>
          <a:p>
            <a:pPr marL="457200" lvl="0" indent="-342900" algn="l" rtl="0">
              <a:spcBef>
                <a:spcPts val="0"/>
              </a:spcBef>
              <a:spcAft>
                <a:spcPts val="0"/>
              </a:spcAft>
              <a:buSzPts val="1800"/>
              <a:buChar char="●"/>
            </a:pPr>
            <a:r>
              <a:rPr lang="en" dirty="0"/>
              <a:t>Key strength: automatic feature extraction (from low-level to high-level).</a:t>
            </a:r>
            <a:endParaRPr dirty="0"/>
          </a:p>
        </p:txBody>
      </p:sp>
      <p:pic>
        <p:nvPicPr>
          <p:cNvPr id="90" name="Google Shape;90;p17"/>
          <p:cNvPicPr preferRelativeResize="0"/>
          <p:nvPr/>
        </p:nvPicPr>
        <p:blipFill>
          <a:blip r:embed="rId3">
            <a:alphaModFix/>
          </a:blip>
          <a:stretch>
            <a:fillRect/>
          </a:stretch>
        </p:blipFill>
        <p:spPr>
          <a:xfrm>
            <a:off x="1497025" y="2383400"/>
            <a:ext cx="5522850" cy="26069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8"/>
          <p:cNvSpPr txBox="1">
            <a:spLocks noGrp="1"/>
          </p:cNvSpPr>
          <p:nvPr>
            <p:ph type="title"/>
          </p:nvPr>
        </p:nvSpPr>
        <p:spPr>
          <a:xfrm>
            <a:off x="311700" y="1078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is Convolution?</a:t>
            </a:r>
            <a:endParaRPr/>
          </a:p>
        </p:txBody>
      </p:sp>
      <p:sp>
        <p:nvSpPr>
          <p:cNvPr id="96" name="Google Shape;96;p18"/>
          <p:cNvSpPr txBox="1">
            <a:spLocks noGrp="1"/>
          </p:cNvSpPr>
          <p:nvPr>
            <p:ph type="body" idx="1"/>
          </p:nvPr>
        </p:nvSpPr>
        <p:spPr>
          <a:xfrm>
            <a:off x="182075" y="644700"/>
            <a:ext cx="88674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Convolution is a mathematical operation between a filter (kernel) and the input signal.</a:t>
            </a:r>
            <a:endParaRPr/>
          </a:p>
          <a:p>
            <a:pPr marL="457200" lvl="0" indent="-342900" algn="l" rtl="0">
              <a:spcBef>
                <a:spcPts val="0"/>
              </a:spcBef>
              <a:spcAft>
                <a:spcPts val="0"/>
              </a:spcAft>
              <a:buSzPts val="1800"/>
              <a:buChar char="●"/>
            </a:pPr>
            <a:r>
              <a:rPr lang="en"/>
              <a:t>The filter slides over the input and extracts features by applying a weighted sum.</a:t>
            </a:r>
            <a:endParaRPr/>
          </a:p>
          <a:p>
            <a:pPr marL="457200" lvl="0" indent="-342900" algn="l" rtl="0">
              <a:spcBef>
                <a:spcPts val="0"/>
              </a:spcBef>
              <a:spcAft>
                <a:spcPts val="0"/>
              </a:spcAft>
              <a:buSzPts val="1800"/>
              <a:buChar char="●"/>
            </a:pPr>
            <a:r>
              <a:rPr lang="en"/>
              <a:t>CNNs learn the filters (unlike traditional signal processing, where filters are predefined).</a:t>
            </a:r>
            <a:endParaRPr/>
          </a:p>
        </p:txBody>
      </p:sp>
      <p:pic>
        <p:nvPicPr>
          <p:cNvPr id="97" name="Google Shape;97;p18"/>
          <p:cNvPicPr preferRelativeResize="0"/>
          <p:nvPr/>
        </p:nvPicPr>
        <p:blipFill>
          <a:blip r:embed="rId3">
            <a:alphaModFix/>
          </a:blip>
          <a:stretch>
            <a:fillRect/>
          </a:stretch>
        </p:blipFill>
        <p:spPr>
          <a:xfrm>
            <a:off x="2934751" y="2110525"/>
            <a:ext cx="3544625" cy="303297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Kernels and Feature Detection</a:t>
            </a:r>
            <a:endParaRPr/>
          </a:p>
        </p:txBody>
      </p:sp>
      <p:sp>
        <p:nvSpPr>
          <p:cNvPr id="103" name="Google Shape;103;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b="1" dirty="0"/>
              <a:t>Kernels</a:t>
            </a:r>
            <a:r>
              <a:rPr lang="en" dirty="0"/>
              <a:t> (or filters) are small-sized matrices (e.g., 3x3, 5x5) that detect specific features in the input.</a:t>
            </a:r>
            <a:endParaRPr dirty="0"/>
          </a:p>
          <a:p>
            <a:pPr marL="457200" lvl="0" indent="-342900" algn="l" rtl="0">
              <a:spcBef>
                <a:spcPts val="0"/>
              </a:spcBef>
              <a:spcAft>
                <a:spcPts val="0"/>
              </a:spcAft>
              <a:buSzPts val="1800"/>
              <a:buChar char="●"/>
            </a:pPr>
            <a:r>
              <a:rPr lang="en" dirty="0"/>
              <a:t>Different filters detect different patterns (e.g., low-frequency vs. high-frequency components in audio).</a:t>
            </a:r>
            <a:endParaRPr dirty="0"/>
          </a:p>
          <a:p>
            <a:pPr marL="457200" lvl="0" indent="-342900" algn="l" rtl="0">
              <a:spcBef>
                <a:spcPts val="0"/>
              </a:spcBef>
              <a:spcAft>
                <a:spcPts val="0"/>
              </a:spcAft>
              <a:buSzPts val="1800"/>
              <a:buChar char="●"/>
            </a:pPr>
            <a:r>
              <a:rPr lang="en" dirty="0"/>
              <a:t>Filters are learned from the data during training.</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Stride and Padding in CNNs</a:t>
            </a:r>
            <a:endParaRPr/>
          </a:p>
        </p:txBody>
      </p:sp>
      <p:sp>
        <p:nvSpPr>
          <p:cNvPr id="109" name="Google Shape;109;p2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b="1" dirty="0"/>
              <a:t>Stride</a:t>
            </a:r>
            <a:r>
              <a:rPr lang="en" dirty="0"/>
              <a:t>: Defines how much the filter moves across the input (affects output size).</a:t>
            </a:r>
            <a:endParaRPr dirty="0"/>
          </a:p>
          <a:p>
            <a:pPr marL="285750" indent="-285750">
              <a:spcBef>
                <a:spcPts val="1200"/>
              </a:spcBef>
              <a:spcAft>
                <a:spcPts val="1200"/>
              </a:spcAft>
            </a:pPr>
            <a:r>
              <a:rPr lang="en" b="1" dirty="0"/>
              <a:t>Padding</a:t>
            </a:r>
            <a:r>
              <a:rPr lang="en" dirty="0"/>
              <a:t>: Adds extra space around the input (e.g., zero-padding) to control output size and maintain important boundary information.</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Convolutional Layer: Extracting Features</a:t>
            </a:r>
            <a:endParaRPr/>
          </a:p>
        </p:txBody>
      </p:sp>
      <p:sp>
        <p:nvSpPr>
          <p:cNvPr id="115" name="Google Shape;115;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A convolutional layer applies multiple filters to the input, producing feature maps.</a:t>
            </a:r>
            <a:endParaRPr dirty="0"/>
          </a:p>
          <a:p>
            <a:pPr marL="285750" indent="-285750">
              <a:spcBef>
                <a:spcPts val="1200"/>
              </a:spcBef>
            </a:pPr>
            <a:r>
              <a:rPr lang="en" dirty="0"/>
              <a:t>Each feature map highlights a specific pattern (e.g., rhythm, timbre, harmonic structure).</a:t>
            </a:r>
            <a:endParaRPr dirty="0"/>
          </a:p>
          <a:p>
            <a:pPr marL="285750" indent="-285750">
              <a:spcBef>
                <a:spcPts val="1200"/>
              </a:spcBef>
              <a:spcAft>
                <a:spcPts val="1200"/>
              </a:spcAft>
            </a:pPr>
            <a:r>
              <a:rPr lang="en" dirty="0"/>
              <a:t>Multiple convolutional layers are stacked to capture progressively more complex patterns.</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Non-Linear Activation Functions (ReLU)</a:t>
            </a:r>
            <a:endParaRPr/>
          </a:p>
        </p:txBody>
      </p:sp>
      <p:sp>
        <p:nvSpPr>
          <p:cNvPr id="121" name="Google Shape;121;p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Activation functions introduce non-linearity, allowing the model to learn complex representations.</a:t>
            </a:r>
            <a:endParaRPr/>
          </a:p>
          <a:p>
            <a:pPr marL="0" lvl="0" indent="0" algn="l" rtl="0">
              <a:spcBef>
                <a:spcPts val="1200"/>
              </a:spcBef>
              <a:spcAft>
                <a:spcPts val="1200"/>
              </a:spcAft>
              <a:buNone/>
            </a:pPr>
            <a:r>
              <a:rPr lang="en"/>
              <a:t>Commonly used: Rectified Linear Unit (ReLU) – keeps positive values, zeroes out negative values.</a:t>
            </a:r>
            <a:endParaRPr/>
          </a:p>
        </p:txBody>
      </p:sp>
      <p:pic>
        <p:nvPicPr>
          <p:cNvPr id="122" name="Google Shape;122;p22"/>
          <p:cNvPicPr preferRelativeResize="0"/>
          <p:nvPr/>
        </p:nvPicPr>
        <p:blipFill>
          <a:blip r:embed="rId3">
            <a:alphaModFix/>
          </a:blip>
          <a:stretch>
            <a:fillRect/>
          </a:stretch>
        </p:blipFill>
        <p:spPr>
          <a:xfrm>
            <a:off x="1679100" y="2867276"/>
            <a:ext cx="5212626" cy="19644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Pooling Layer: Downsampling the Data</a:t>
            </a:r>
            <a:endParaRPr/>
          </a:p>
        </p:txBody>
      </p:sp>
      <p:sp>
        <p:nvSpPr>
          <p:cNvPr id="128" name="Google Shape;128;p2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Pooling reduces the size of the feature maps while retaining important information.</a:t>
            </a:r>
            <a:endParaRPr/>
          </a:p>
          <a:p>
            <a:pPr marL="0" lvl="0" indent="0" algn="l" rtl="0">
              <a:spcBef>
                <a:spcPts val="1200"/>
              </a:spcBef>
              <a:spcAft>
                <a:spcPts val="0"/>
              </a:spcAft>
              <a:buNone/>
            </a:pPr>
            <a:r>
              <a:rPr lang="en"/>
              <a:t>Common type: Max-pooling – takes the maximum value in a window, reducing dimensionality.</a:t>
            </a:r>
            <a:endParaRPr/>
          </a:p>
          <a:p>
            <a:pPr marL="0" lvl="0" indent="0" algn="l" rtl="0">
              <a:spcBef>
                <a:spcPts val="1200"/>
              </a:spcBef>
              <a:spcAft>
                <a:spcPts val="1200"/>
              </a:spcAft>
              <a:buNone/>
            </a:pPr>
            <a:r>
              <a:rPr lang="en"/>
              <a:t>Helps make the model more efficient and less sensitive to minor shifts.</a:t>
            </a:r>
            <a:endParaRPr/>
          </a:p>
        </p:txBody>
      </p:sp>
      <p:pic>
        <p:nvPicPr>
          <p:cNvPr id="129" name="Google Shape;129;p23"/>
          <p:cNvPicPr preferRelativeResize="0"/>
          <p:nvPr/>
        </p:nvPicPr>
        <p:blipFill>
          <a:blip r:embed="rId3">
            <a:alphaModFix/>
          </a:blip>
          <a:stretch>
            <a:fillRect/>
          </a:stretch>
        </p:blipFill>
        <p:spPr>
          <a:xfrm>
            <a:off x="2427600" y="2961425"/>
            <a:ext cx="4477600" cy="21820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How CNNs Build Hierarchical Representations</a:t>
            </a:r>
            <a:endParaRPr/>
          </a:p>
        </p:txBody>
      </p:sp>
      <p:sp>
        <p:nvSpPr>
          <p:cNvPr id="135" name="Google Shape;135;p2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Multiple layers of convolutions and pooling allow CNNs to learn increasingly abstract representations.</a:t>
            </a:r>
            <a:endParaRPr dirty="0"/>
          </a:p>
          <a:p>
            <a:pPr marL="285750" indent="-285750">
              <a:spcBef>
                <a:spcPts val="1200"/>
              </a:spcBef>
            </a:pPr>
            <a:r>
              <a:rPr lang="en" dirty="0"/>
              <a:t>Early layers learn simple features (e.g., edges, transients), while deeper layers learn complex features (e.g., melodies, harmonics).</a:t>
            </a:r>
            <a:endParaRPr dirty="0"/>
          </a:p>
          <a:p>
            <a:pPr marL="285750" indent="-285750">
              <a:spcBef>
                <a:spcPts val="1200"/>
              </a:spcBef>
              <a:spcAft>
                <a:spcPts val="1200"/>
              </a:spcAft>
            </a:pPr>
            <a:r>
              <a:rPr lang="en" dirty="0"/>
              <a:t>CNNs are trained end-to-end: from raw audio to compressed representation or output.</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CNNs vs. Traditional Audio Filters</a:t>
            </a:r>
            <a:endParaRPr/>
          </a:p>
        </p:txBody>
      </p:sp>
      <p:sp>
        <p:nvSpPr>
          <p:cNvPr id="141" name="Google Shape;141;p2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Traditional methods use predefined filters (e.g., Fourier, filter-banks) for feature extraction.</a:t>
            </a:r>
            <a:endParaRPr dirty="0"/>
          </a:p>
          <a:p>
            <a:pPr marL="285750" indent="-285750">
              <a:spcBef>
                <a:spcPts val="1200"/>
              </a:spcBef>
            </a:pPr>
            <a:r>
              <a:rPr lang="en" dirty="0"/>
              <a:t>CNNs learn the filters directly from the data, making them more adaptable and task-specific.</a:t>
            </a:r>
            <a:endParaRPr dirty="0"/>
          </a:p>
          <a:p>
            <a:pPr marL="285750" indent="-285750">
              <a:spcBef>
                <a:spcPts val="1200"/>
              </a:spcBef>
              <a:spcAft>
                <a:spcPts val="1200"/>
              </a:spcAft>
            </a:pPr>
            <a:r>
              <a:rPr lang="en" dirty="0"/>
              <a:t>CNNs can achieve better compression by optimizing for the specific characteristics of the input audio.</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6"/>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Convolutional Auto Encoder (CAE)</a:t>
            </a:r>
            <a:endParaRPr/>
          </a:p>
        </p:txBody>
      </p:sp>
      <p:sp>
        <p:nvSpPr>
          <p:cNvPr id="147" name="Google Shape;147;p26"/>
          <p:cNvSpPr txBox="1">
            <a:spLocks noGrp="1"/>
          </p:cNvSpPr>
          <p:nvPr>
            <p:ph type="body" idx="1"/>
          </p:nvPr>
        </p:nvSpPr>
        <p:spPr>
          <a:xfrm>
            <a:off x="311700" y="656875"/>
            <a:ext cx="8444674"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A type of neural network used for unsupervised learning.</a:t>
            </a:r>
            <a:endParaRPr dirty="0"/>
          </a:p>
          <a:p>
            <a:pPr marL="457200" lvl="0" indent="-342900" algn="l" rtl="0">
              <a:spcBef>
                <a:spcPts val="0"/>
              </a:spcBef>
              <a:spcAft>
                <a:spcPts val="0"/>
              </a:spcAft>
              <a:buSzPts val="1800"/>
              <a:buChar char="●"/>
            </a:pPr>
            <a:r>
              <a:rPr lang="en" dirty="0"/>
              <a:t>Two parts: Encoder (compresses data) and Decoder (reconstructs data).</a:t>
            </a:r>
            <a:endParaRPr dirty="0"/>
          </a:p>
          <a:p>
            <a:pPr marL="457200" lvl="0" indent="-342900" algn="l" rtl="0">
              <a:spcBef>
                <a:spcPts val="0"/>
              </a:spcBef>
              <a:spcAft>
                <a:spcPts val="0"/>
              </a:spcAft>
              <a:buSzPts val="1800"/>
              <a:buChar char="●"/>
            </a:pPr>
            <a:r>
              <a:rPr lang="en" dirty="0"/>
              <a:t>Purpose in audio: learn compact representations of audio signals for compression.</a:t>
            </a:r>
            <a:endParaRPr dirty="0"/>
          </a:p>
        </p:txBody>
      </p:sp>
      <p:pic>
        <p:nvPicPr>
          <p:cNvPr id="148" name="Google Shape;148;p26"/>
          <p:cNvPicPr preferRelativeResize="0"/>
          <p:nvPr/>
        </p:nvPicPr>
        <p:blipFill>
          <a:blip r:embed="rId3">
            <a:alphaModFix/>
          </a:blip>
          <a:stretch>
            <a:fillRect/>
          </a:stretch>
        </p:blipFill>
        <p:spPr>
          <a:xfrm>
            <a:off x="2026113" y="1928600"/>
            <a:ext cx="5403474" cy="31387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How the Encoder Works in Audio Compression</a:t>
            </a:r>
            <a:endParaRPr/>
          </a:p>
        </p:txBody>
      </p:sp>
      <p:sp>
        <p:nvSpPr>
          <p:cNvPr id="154" name="Google Shape;154;p2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Encoder is a series of convolutional layers that compresses the input audio into a lower-dimensional representation.</a:t>
            </a:r>
            <a:endParaRPr/>
          </a:p>
          <a:p>
            <a:pPr marL="457200" lvl="0" indent="-342900" algn="l" rtl="0">
              <a:spcBef>
                <a:spcPts val="0"/>
              </a:spcBef>
              <a:spcAft>
                <a:spcPts val="0"/>
              </a:spcAft>
              <a:buSzPts val="1800"/>
              <a:buChar char="●"/>
            </a:pPr>
            <a:r>
              <a:rPr lang="en"/>
              <a:t>CNN layers learn to extract important features (e.g., harmonics, transients) while reducing redundancy.</a:t>
            </a:r>
            <a:endParaRPr/>
          </a:p>
          <a:p>
            <a:pPr marL="457200" lvl="0" indent="-342900" algn="l" rtl="0">
              <a:spcBef>
                <a:spcPts val="0"/>
              </a:spcBef>
              <a:spcAft>
                <a:spcPts val="0"/>
              </a:spcAft>
              <a:buSzPts val="1800"/>
              <a:buChar char="●"/>
            </a:pPr>
            <a:r>
              <a:rPr lang="en"/>
              <a:t>The final output of the encoder is a bottleneck: a highly compressed version of the input.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How the Decoder Works in Audio Compression</a:t>
            </a:r>
            <a:endParaRPr/>
          </a:p>
        </p:txBody>
      </p:sp>
      <p:sp>
        <p:nvSpPr>
          <p:cNvPr id="160" name="Google Shape;160;p2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The Decoder is the inverse of the encoder: a series of transposed convolutional layers that </a:t>
            </a:r>
            <a:r>
              <a:rPr lang="en" dirty="0" err="1"/>
              <a:t>upsample</a:t>
            </a:r>
            <a:r>
              <a:rPr lang="en" dirty="0"/>
              <a:t> the compressed data to reconstruct the original audio.</a:t>
            </a:r>
            <a:endParaRPr dirty="0"/>
          </a:p>
          <a:p>
            <a:pPr marL="285750" indent="-285750">
              <a:spcBef>
                <a:spcPts val="1200"/>
              </a:spcBef>
            </a:pPr>
            <a:r>
              <a:rPr lang="en" dirty="0"/>
              <a:t>The goal is to reconstruct the audio signal as accurately as possible from the compressed representation.</a:t>
            </a:r>
            <a:endParaRPr dirty="0"/>
          </a:p>
          <a:p>
            <a:pPr marL="285750" indent="-285750">
              <a:spcBef>
                <a:spcPts val="1200"/>
              </a:spcBef>
              <a:spcAft>
                <a:spcPts val="1200"/>
              </a:spcAft>
            </a:pPr>
            <a:r>
              <a:rPr lang="en" dirty="0"/>
              <a:t>The success of the decoder depends on how well the encoder captured the essential features of the audio.</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Understanding the Bottleneck: The Key to Compression</a:t>
            </a:r>
            <a:endParaRPr/>
          </a:p>
        </p:txBody>
      </p:sp>
      <p:sp>
        <p:nvSpPr>
          <p:cNvPr id="166" name="Google Shape;166;p2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The bottleneck layer is the most critical part of the autoencoder, where compression happens.</a:t>
            </a:r>
            <a:endParaRPr dirty="0"/>
          </a:p>
          <a:p>
            <a:pPr marL="285750" indent="-285750">
              <a:spcBef>
                <a:spcPts val="1200"/>
              </a:spcBef>
            </a:pPr>
            <a:r>
              <a:rPr lang="en" dirty="0"/>
              <a:t>The size of the bottleneck determines the compression ratio: smaller bottleneck -&gt; higher compression, but at the risk of losing important audio details.</a:t>
            </a:r>
            <a:endParaRPr dirty="0"/>
          </a:p>
          <a:p>
            <a:pPr marL="285750" indent="-285750">
              <a:spcBef>
                <a:spcPts val="1200"/>
              </a:spcBef>
              <a:spcAft>
                <a:spcPts val="1200"/>
              </a:spcAft>
            </a:pPr>
            <a:r>
              <a:rPr lang="en" dirty="0"/>
              <a:t>Finding the right balance between compression rate and audio quality is key.</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Training the Autoencoder: Loss Function and Optimization</a:t>
            </a:r>
            <a:endParaRPr dirty="0"/>
          </a:p>
        </p:txBody>
      </p:sp>
      <p:sp>
        <p:nvSpPr>
          <p:cNvPr id="172" name="Google Shape;172;p3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The autoencoder is trained to minimize the difference between the original input and the reconstructed output (reconstruction error).</a:t>
            </a:r>
            <a:endParaRPr dirty="0"/>
          </a:p>
          <a:p>
            <a:pPr marL="285750" indent="-285750">
              <a:spcBef>
                <a:spcPts val="1200"/>
              </a:spcBef>
            </a:pPr>
            <a:r>
              <a:rPr lang="en" dirty="0"/>
              <a:t>Common loss functions: Mean Squared Error (MSE) for signal differences, and perceptual loss for quality-based reconstruction.</a:t>
            </a:r>
            <a:endParaRPr dirty="0"/>
          </a:p>
          <a:p>
            <a:pPr marL="285750" indent="-285750">
              <a:spcBef>
                <a:spcPts val="1200"/>
              </a:spcBef>
              <a:spcAft>
                <a:spcPts val="1200"/>
              </a:spcAft>
            </a:pPr>
            <a:r>
              <a:rPr lang="en" dirty="0"/>
              <a:t>The autoencoder is optimized using backpropagation and gradient descent.</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84FCA-DD1C-632A-C003-053EA79C23E2}"/>
              </a:ext>
            </a:extLst>
          </p:cNvPr>
          <p:cNvSpPr>
            <a:spLocks noGrp="1"/>
          </p:cNvSpPr>
          <p:nvPr>
            <p:ph type="title"/>
          </p:nvPr>
        </p:nvSpPr>
        <p:spPr/>
        <p:txBody>
          <a:bodyPr>
            <a:normAutofit fontScale="90000"/>
          </a:bodyPr>
          <a:lstStyle/>
          <a:p>
            <a:r>
              <a:rPr lang="en-US" dirty="0"/>
              <a:t>Gradient descent and learning rate</a:t>
            </a:r>
          </a:p>
        </p:txBody>
      </p:sp>
      <p:sp>
        <p:nvSpPr>
          <p:cNvPr id="3" name="Text Placeholder 2">
            <a:extLst>
              <a:ext uri="{FF2B5EF4-FFF2-40B4-BE49-F238E27FC236}">
                <a16:creationId xmlns:a16="http://schemas.microsoft.com/office/drawing/2014/main" id="{50E7E786-F710-945A-93E9-316D7532279F}"/>
              </a:ext>
            </a:extLst>
          </p:cNvPr>
          <p:cNvSpPr>
            <a:spLocks noGrp="1"/>
          </p:cNvSpPr>
          <p:nvPr>
            <p:ph type="body" idx="1"/>
          </p:nvPr>
        </p:nvSpPr>
        <p:spPr/>
        <p:txBody>
          <a:bodyPr/>
          <a:lstStyle/>
          <a:p>
            <a:r>
              <a:rPr lang="en-US" b="1" dirty="0"/>
              <a:t>Gradient descent </a:t>
            </a:r>
            <a:r>
              <a:rPr lang="en-US" dirty="0"/>
              <a:t>is an optimization algorithm used in machine learning and deep learning to minimize the loss function and improve model accuracy. The basic idea behind gradient descent is to iteratively adjust the model's parameters (weights and biases) in the direction that reduces the loss function, helping the model better fit the training data.</a:t>
            </a:r>
          </a:p>
          <a:p>
            <a:r>
              <a:rPr lang="en-US" dirty="0"/>
              <a:t>The </a:t>
            </a:r>
            <a:r>
              <a:rPr lang="en-US" b="1" dirty="0"/>
              <a:t>learning rate </a:t>
            </a:r>
            <a:r>
              <a:rPr lang="en-US" dirty="0"/>
              <a:t>is a crucial hyperparameter in machine learning, particularly in training neural networks. It controls the size of the steps that the optimization algorithm (usually gradient descent or a variant) takes when adjusting the model's weights to minimize the loss function.</a:t>
            </a:r>
          </a:p>
        </p:txBody>
      </p:sp>
    </p:spTree>
    <p:extLst>
      <p:ext uri="{BB962C8B-B14F-4D97-AF65-F5344CB8AC3E}">
        <p14:creationId xmlns:p14="http://schemas.microsoft.com/office/powerpoint/2010/main" val="4842628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D3611-ED2E-7A41-B2DB-EE48866A6DB1}"/>
              </a:ext>
            </a:extLst>
          </p:cNvPr>
          <p:cNvSpPr>
            <a:spLocks noGrp="1"/>
          </p:cNvSpPr>
          <p:nvPr>
            <p:ph type="title"/>
          </p:nvPr>
        </p:nvSpPr>
        <p:spPr/>
        <p:txBody>
          <a:bodyPr>
            <a:normAutofit fontScale="90000"/>
          </a:bodyPr>
          <a:lstStyle/>
          <a:p>
            <a:r>
              <a:rPr lang="en-US" dirty="0"/>
              <a:t>The discriminator and perceptual loss</a:t>
            </a:r>
          </a:p>
        </p:txBody>
      </p:sp>
      <p:sp>
        <p:nvSpPr>
          <p:cNvPr id="3" name="Text Placeholder 2">
            <a:extLst>
              <a:ext uri="{FF2B5EF4-FFF2-40B4-BE49-F238E27FC236}">
                <a16:creationId xmlns:a16="http://schemas.microsoft.com/office/drawing/2014/main" id="{E1B04C4F-97BB-74FE-63E0-05D17BE83724}"/>
              </a:ext>
            </a:extLst>
          </p:cNvPr>
          <p:cNvSpPr>
            <a:spLocks noGrp="1"/>
          </p:cNvSpPr>
          <p:nvPr>
            <p:ph type="body" idx="1"/>
          </p:nvPr>
        </p:nvSpPr>
        <p:spPr/>
        <p:txBody>
          <a:bodyPr>
            <a:normAutofit fontScale="92500" lnSpcReduction="10000"/>
          </a:bodyPr>
          <a:lstStyle/>
          <a:p>
            <a:pPr marL="114300" indent="0">
              <a:buNone/>
            </a:pPr>
            <a:r>
              <a:rPr lang="en-US" dirty="0"/>
              <a:t>The Discriminator works alongside the Encoder/Decoder (the Generator) to train the model.</a:t>
            </a:r>
          </a:p>
          <a:p>
            <a:pPr marL="114300" indent="0">
              <a:buNone/>
            </a:pPr>
            <a:endParaRPr lang="en-US" dirty="0"/>
          </a:p>
          <a:p>
            <a:r>
              <a:rPr lang="en-US" dirty="0"/>
              <a:t>Traditional codecs are often optimized with simple distance metrics like Mean Squared Error (MSE), which penalize any difference between the original and reconstructed signal, even if that difference is inaudible to humans.</a:t>
            </a:r>
          </a:p>
          <a:p>
            <a:endParaRPr lang="en-US" dirty="0"/>
          </a:p>
          <a:p>
            <a:r>
              <a:rPr lang="en-US" dirty="0"/>
              <a:t>The Discriminator replaces or augments these simple metrics with an Adversarial Loss. This loss forces the Generator to produce audio that is statistically and perceptually indistinguishable from the real thing. It trains the model to focus on minimizing perceptible distortion, not just numerical error.</a:t>
            </a:r>
          </a:p>
        </p:txBody>
      </p:sp>
    </p:spTree>
    <p:extLst>
      <p:ext uri="{BB962C8B-B14F-4D97-AF65-F5344CB8AC3E}">
        <p14:creationId xmlns:p14="http://schemas.microsoft.com/office/powerpoint/2010/main" val="5932640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13D640-F98B-D682-A07E-9EAEF1ACB527}"/>
              </a:ext>
            </a:extLst>
          </p:cNvPr>
          <p:cNvSpPr>
            <a:spLocks noGrp="1"/>
          </p:cNvSpPr>
          <p:nvPr>
            <p:ph type="title"/>
          </p:nvPr>
        </p:nvSpPr>
        <p:spPr/>
        <p:txBody>
          <a:bodyPr>
            <a:normAutofit fontScale="90000"/>
          </a:bodyPr>
          <a:lstStyle/>
          <a:p>
            <a:r>
              <a:rPr lang="en-US" dirty="0"/>
              <a:t>Residual Vector Quantization (RVQ)</a:t>
            </a:r>
          </a:p>
        </p:txBody>
      </p:sp>
      <p:sp>
        <p:nvSpPr>
          <p:cNvPr id="3" name="Text Placeholder 2">
            <a:extLst>
              <a:ext uri="{FF2B5EF4-FFF2-40B4-BE49-F238E27FC236}">
                <a16:creationId xmlns:a16="http://schemas.microsoft.com/office/drawing/2014/main" id="{D0993BD3-1F26-403A-558C-DCE40BEFC1FE}"/>
              </a:ext>
            </a:extLst>
          </p:cNvPr>
          <p:cNvSpPr>
            <a:spLocks noGrp="1"/>
          </p:cNvSpPr>
          <p:nvPr>
            <p:ph type="body" idx="1"/>
          </p:nvPr>
        </p:nvSpPr>
        <p:spPr>
          <a:xfrm>
            <a:off x="311700" y="1152475"/>
            <a:ext cx="8520600" cy="3766366"/>
          </a:xfrm>
        </p:spPr>
        <p:txBody>
          <a:bodyPr>
            <a:normAutofit fontScale="92500" lnSpcReduction="10000"/>
          </a:bodyPr>
          <a:lstStyle/>
          <a:p>
            <a:pPr marL="114300" indent="0">
              <a:buNone/>
            </a:pPr>
            <a:r>
              <a:rPr lang="en-US" dirty="0"/>
              <a:t>Residual Vector Quantization (RVQ) is the key component used in neural audio codecs (</a:t>
            </a:r>
            <a:r>
              <a:rPr lang="en-US" dirty="0" err="1"/>
              <a:t>SoundStream</a:t>
            </a:r>
            <a:r>
              <a:rPr lang="en-US" dirty="0"/>
              <a:t>, </a:t>
            </a:r>
            <a:r>
              <a:rPr lang="en-US" dirty="0" err="1"/>
              <a:t>EnCodec</a:t>
            </a:r>
            <a:r>
              <a:rPr lang="en-US" dirty="0"/>
              <a:t>) to convert a continuous, complex representation (the neural network's latent vector) into a sequence of discrete, compact integers (tokens).</a:t>
            </a:r>
          </a:p>
          <a:p>
            <a:r>
              <a:rPr lang="en-US" dirty="0"/>
              <a:t>It maps an input vector to the closest code vector in a learned dictionary (a codebook). This is a lossy step, as the input vector is replaced by its nearest neighbor.</a:t>
            </a:r>
          </a:p>
          <a:p>
            <a:r>
              <a:rPr lang="en-US" dirty="0"/>
              <a:t>RVQ addresses the lossy nature of VQ by using a series of cascaded VQ layers instead of just one:</a:t>
            </a:r>
          </a:p>
          <a:p>
            <a:pPr lvl="1"/>
            <a:r>
              <a:rPr lang="en-US" dirty="0"/>
              <a:t>Layer 1: Quantizes the input vector to get the first code. A residual is calculated.</a:t>
            </a:r>
          </a:p>
          <a:p>
            <a:pPr lvl="1"/>
            <a:r>
              <a:rPr lang="en-US" dirty="0"/>
              <a:t> Layer 2: Quantizes the residual from Layer 1 to get a second code. A new, smaller residual is calculated.</a:t>
            </a:r>
          </a:p>
          <a:p>
            <a:pPr lvl="1"/>
            <a:r>
              <a:rPr lang="en-US" dirty="0"/>
              <a:t>Repeat: This process is repeated across N layers, with each layer refining the quantization of the previous layer's residual.</a:t>
            </a:r>
          </a:p>
        </p:txBody>
      </p:sp>
    </p:spTree>
    <p:extLst>
      <p:ext uri="{BB962C8B-B14F-4D97-AF65-F5344CB8AC3E}">
        <p14:creationId xmlns:p14="http://schemas.microsoft.com/office/powerpoint/2010/main" val="38170013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B4AA9-2ACC-BC41-0F70-26BB6A0A1F10}"/>
              </a:ext>
            </a:extLst>
          </p:cNvPr>
          <p:cNvSpPr>
            <a:spLocks noGrp="1"/>
          </p:cNvSpPr>
          <p:nvPr>
            <p:ph type="title"/>
          </p:nvPr>
        </p:nvSpPr>
        <p:spPr/>
        <p:txBody>
          <a:bodyPr>
            <a:normAutofit fontScale="90000"/>
          </a:bodyPr>
          <a:lstStyle/>
          <a:p>
            <a:r>
              <a:rPr lang="en-US" dirty="0"/>
              <a:t>The transformer layer: context through attention</a:t>
            </a:r>
          </a:p>
        </p:txBody>
      </p:sp>
      <p:sp>
        <p:nvSpPr>
          <p:cNvPr id="3" name="Text Placeholder 2">
            <a:extLst>
              <a:ext uri="{FF2B5EF4-FFF2-40B4-BE49-F238E27FC236}">
                <a16:creationId xmlns:a16="http://schemas.microsoft.com/office/drawing/2014/main" id="{E3E44FA5-7145-3A68-B311-2DFB9687C83F}"/>
              </a:ext>
            </a:extLst>
          </p:cNvPr>
          <p:cNvSpPr>
            <a:spLocks noGrp="1"/>
          </p:cNvSpPr>
          <p:nvPr>
            <p:ph type="body" idx="1"/>
          </p:nvPr>
        </p:nvSpPr>
        <p:spPr/>
        <p:txBody>
          <a:bodyPr>
            <a:normAutofit/>
          </a:bodyPr>
          <a:lstStyle/>
          <a:p>
            <a:pPr marL="114300" indent="0">
              <a:buNone/>
            </a:pPr>
            <a:r>
              <a:rPr lang="en-US" dirty="0"/>
              <a:t>A mechanism that allows the model to weigh the relevance of every other element in the sequence (all audio frames) when processing a single element. Models the statistics of the discrete audio tokens (the RVQ codes) to allow an entropy coder to assign shorter bitstrings to common token sequences, achieving a smaller final file size.</a:t>
            </a:r>
          </a:p>
          <a:p>
            <a:pPr marL="114300" indent="0">
              <a:buNone/>
            </a:pPr>
            <a:endParaRPr lang="en-US" dirty="0"/>
          </a:p>
          <a:p>
            <a:pPr marL="114300" indent="0">
              <a:buNone/>
            </a:pPr>
            <a:r>
              <a:rPr lang="en-US" dirty="0"/>
              <a:t>A transformer layer is composed of two main sub-layers:</a:t>
            </a:r>
          </a:p>
          <a:p>
            <a:pPr lvl="1"/>
            <a:r>
              <a:rPr lang="en-US" dirty="0"/>
              <a:t>Multi-Head Self-Attention: Computes the contextual weightings between all parts of the sequence.</a:t>
            </a:r>
          </a:p>
          <a:p>
            <a:pPr lvl="1"/>
            <a:r>
              <a:rPr lang="en-US" dirty="0"/>
              <a:t>Feed-Forward Network (FFN): A simple neural network applied independently to each position to further process the information gathered by the attention layer.</a:t>
            </a:r>
          </a:p>
        </p:txBody>
      </p:sp>
    </p:spTree>
    <p:extLst>
      <p:ext uri="{BB962C8B-B14F-4D97-AF65-F5344CB8AC3E}">
        <p14:creationId xmlns:p14="http://schemas.microsoft.com/office/powerpoint/2010/main" val="22909329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4F49E-F3E9-EC2A-AF5C-735A2689F9B2}"/>
              </a:ext>
            </a:extLst>
          </p:cNvPr>
          <p:cNvSpPr>
            <a:spLocks noGrp="1"/>
          </p:cNvSpPr>
          <p:nvPr>
            <p:ph type="title"/>
          </p:nvPr>
        </p:nvSpPr>
        <p:spPr/>
        <p:txBody>
          <a:bodyPr>
            <a:normAutofit fontScale="90000"/>
          </a:bodyPr>
          <a:lstStyle/>
          <a:p>
            <a:r>
              <a:rPr lang="en-US" dirty="0" err="1"/>
              <a:t>Pytorch</a:t>
            </a:r>
            <a:endParaRPr lang="en-US" dirty="0"/>
          </a:p>
        </p:txBody>
      </p:sp>
      <p:sp>
        <p:nvSpPr>
          <p:cNvPr id="3" name="Text Placeholder 2">
            <a:extLst>
              <a:ext uri="{FF2B5EF4-FFF2-40B4-BE49-F238E27FC236}">
                <a16:creationId xmlns:a16="http://schemas.microsoft.com/office/drawing/2014/main" id="{24C5B273-F203-8F8A-2DCB-CA3808468DEF}"/>
              </a:ext>
            </a:extLst>
          </p:cNvPr>
          <p:cNvSpPr>
            <a:spLocks noGrp="1"/>
          </p:cNvSpPr>
          <p:nvPr>
            <p:ph type="body" idx="1"/>
          </p:nvPr>
        </p:nvSpPr>
        <p:spPr/>
        <p:txBody>
          <a:bodyPr/>
          <a:lstStyle/>
          <a:p>
            <a:pPr marL="114300" indent="0">
              <a:buNone/>
            </a:pPr>
            <a:r>
              <a:rPr lang="en-US" dirty="0"/>
              <a:t>An open-source machine learning framework that provides a flexible and efficient platform for building and training deep learning models. It has become one of the most popular deep learning frameworks due to its flexibility, Pythonic interface, and extensive support for GPUs (Graphics Processing Units), which are crucial for accelerating deep learning computations.</a:t>
            </a:r>
          </a:p>
          <a:p>
            <a:pPr marL="114300" indent="0">
              <a:buNone/>
            </a:pPr>
            <a:endParaRPr lang="en-US" dirty="0"/>
          </a:p>
          <a:p>
            <a:pPr marL="114300" indent="0">
              <a:buNone/>
            </a:pPr>
            <a:r>
              <a:rPr lang="en-US" i="1" dirty="0" err="1"/>
              <a:t>Torchaudio</a:t>
            </a:r>
            <a:r>
              <a:rPr lang="en-US" i="1" dirty="0"/>
              <a:t>: </a:t>
            </a:r>
            <a:r>
              <a:rPr lang="en-US" dirty="0"/>
              <a:t>dedicated library for audio and speech processing. It provides GPU-accelerated implementations of essential audio signal processing functions (like Spectrogram, Mel-spectrogram, Resampling, etc.) directly integrated with </a:t>
            </a:r>
            <a:r>
              <a:rPr lang="en-US" dirty="0" err="1"/>
              <a:t>PyTorch's</a:t>
            </a:r>
            <a:r>
              <a:rPr lang="en-US" dirty="0"/>
              <a:t> tensor structure.</a:t>
            </a:r>
          </a:p>
        </p:txBody>
      </p:sp>
    </p:spTree>
    <p:extLst>
      <p:ext uri="{BB962C8B-B14F-4D97-AF65-F5344CB8AC3E}">
        <p14:creationId xmlns:p14="http://schemas.microsoft.com/office/powerpoint/2010/main" val="1944401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Challenges (current limitations)</a:t>
            </a:r>
            <a:endParaRPr dirty="0"/>
          </a:p>
        </p:txBody>
      </p:sp>
      <p:sp>
        <p:nvSpPr>
          <p:cNvPr id="178" name="Google Shape;178;p31"/>
          <p:cNvSpPr txBox="1">
            <a:spLocks noGrp="1"/>
          </p:cNvSpPr>
          <p:nvPr>
            <p:ph type="body" idx="1"/>
          </p:nvPr>
        </p:nvSpPr>
        <p:spPr>
          <a:xfrm>
            <a:off x="311700" y="1152475"/>
            <a:ext cx="8520600" cy="3829428"/>
          </a:xfrm>
          <a:prstGeom prst="rect">
            <a:avLst/>
          </a:prstGeom>
        </p:spPr>
        <p:txBody>
          <a:bodyPr spcFirstLastPara="1" wrap="square" lIns="91425" tIns="91425" rIns="91425" bIns="91425" anchor="t" anchorCtr="0">
            <a:normAutofit/>
          </a:bodyPr>
          <a:lstStyle/>
          <a:p>
            <a:pPr>
              <a:buFont typeface="Arial" panose="020B0604020202020204" pitchFamily="34" charset="0"/>
              <a:buChar char="•"/>
            </a:pPr>
            <a:r>
              <a:rPr lang="en-US" dirty="0"/>
              <a:t>Computational Complexity (real-time)</a:t>
            </a:r>
          </a:p>
          <a:p>
            <a:pPr lvl="1">
              <a:buFont typeface="Arial" panose="020B0604020202020204" pitchFamily="34" charset="0"/>
              <a:buChar char="•"/>
            </a:pPr>
            <a:r>
              <a:rPr lang="en-US" dirty="0"/>
              <a:t>Large, data-driven architectures require significant compute power, challenging deployment on resource-limited devices (like smartphones).</a:t>
            </a:r>
          </a:p>
          <a:p>
            <a:pPr lvl="1">
              <a:buFont typeface="Arial" panose="020B0604020202020204" pitchFamily="34" charset="0"/>
              <a:buChar char="•"/>
            </a:pPr>
            <a:r>
              <a:rPr lang="en-US" dirty="0"/>
              <a:t>Achieving low latency for real-time communication systems remains critical.</a:t>
            </a:r>
          </a:p>
          <a:p>
            <a:pPr lvl="0" algn="l" rtl="0">
              <a:spcBef>
                <a:spcPts val="0"/>
              </a:spcBef>
              <a:spcAft>
                <a:spcPts val="0"/>
              </a:spcAft>
              <a:buSzPts val="1800"/>
              <a:buFont typeface="Arial" panose="020B0604020202020204" pitchFamily="34" charset="0"/>
              <a:buChar char="•"/>
            </a:pPr>
            <a:r>
              <a:rPr lang="en-US" dirty="0"/>
              <a:t>Generalization</a:t>
            </a:r>
          </a:p>
          <a:p>
            <a:pPr lvl="1" indent="-342900">
              <a:buSzPts val="1800"/>
              <a:buFont typeface="Arial" panose="020B0604020202020204" pitchFamily="34" charset="0"/>
              <a:buChar char="•"/>
            </a:pPr>
            <a:r>
              <a:rPr lang="en-US" dirty="0"/>
              <a:t>Models often struggle to generalize across different acoustic domains (speech vs. music vs. environment).</a:t>
            </a:r>
          </a:p>
          <a:p>
            <a:pPr lvl="1" indent="-342900">
              <a:buSzPts val="1800"/>
              <a:buFont typeface="Arial" panose="020B0604020202020204" pitchFamily="34" charset="0"/>
              <a:buChar char="•"/>
            </a:pPr>
            <a:r>
              <a:rPr lang="en-US" dirty="0"/>
              <a:t>Training requires massive, undifferentiated audio datasets, complicating data modeling and control.</a:t>
            </a:r>
          </a:p>
          <a:p>
            <a:pPr lvl="0" algn="l" rtl="0">
              <a:spcBef>
                <a:spcPts val="0"/>
              </a:spcBef>
              <a:spcAft>
                <a:spcPts val="0"/>
              </a:spcAft>
              <a:buSzPts val="1800"/>
              <a:buFont typeface="Arial" panose="020B0604020202020204" pitchFamily="34" charset="0"/>
              <a:buChar char="•"/>
            </a:pPr>
            <a:r>
              <a:rPr lang="en-US" dirty="0"/>
              <a:t>Subjective Quality Evaluation</a:t>
            </a:r>
          </a:p>
          <a:p>
            <a:pPr lvl="1" indent="-342900">
              <a:buSzPts val="1800"/>
              <a:buFont typeface="Arial" panose="020B0604020202020204" pitchFamily="34" charset="0"/>
              <a:buChar char="•"/>
            </a:pPr>
            <a:r>
              <a:rPr lang="en-US" dirty="0"/>
              <a:t>Subjective listening tests (MUSHRA) are resource-intensive to scale.</a:t>
            </a:r>
            <a:endParaRPr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FAA40-2498-D673-2F6C-27CF1F0DC41B}"/>
              </a:ext>
            </a:extLst>
          </p:cNvPr>
          <p:cNvSpPr>
            <a:spLocks noGrp="1"/>
          </p:cNvSpPr>
          <p:nvPr>
            <p:ph type="title"/>
          </p:nvPr>
        </p:nvSpPr>
        <p:spPr/>
        <p:txBody>
          <a:bodyPr>
            <a:normAutofit fontScale="90000"/>
          </a:bodyPr>
          <a:lstStyle/>
          <a:p>
            <a:r>
              <a:rPr lang="en-US" dirty="0"/>
              <a:t>References</a:t>
            </a:r>
          </a:p>
        </p:txBody>
      </p:sp>
      <p:sp>
        <p:nvSpPr>
          <p:cNvPr id="3" name="Text Placeholder 2">
            <a:extLst>
              <a:ext uri="{FF2B5EF4-FFF2-40B4-BE49-F238E27FC236}">
                <a16:creationId xmlns:a16="http://schemas.microsoft.com/office/drawing/2014/main" id="{46910A26-9858-AAB1-8B69-3A26B3AD3833}"/>
              </a:ext>
            </a:extLst>
          </p:cNvPr>
          <p:cNvSpPr>
            <a:spLocks noGrp="1"/>
          </p:cNvSpPr>
          <p:nvPr>
            <p:ph type="body" idx="1"/>
          </p:nvPr>
        </p:nvSpPr>
        <p:spPr/>
        <p:txBody>
          <a:bodyPr/>
          <a:lstStyle/>
          <a:p>
            <a:r>
              <a:rPr lang="en-US" dirty="0"/>
              <a:t>Neil </a:t>
            </a:r>
            <a:r>
              <a:rPr lang="en-US" dirty="0" err="1"/>
              <a:t>Zeghidour</a:t>
            </a:r>
            <a:r>
              <a:rPr lang="en-US" dirty="0"/>
              <a:t>, Alejandro </a:t>
            </a:r>
            <a:r>
              <a:rPr lang="en-US" dirty="0" err="1"/>
              <a:t>Luebs</a:t>
            </a:r>
            <a:r>
              <a:rPr lang="en-US" dirty="0"/>
              <a:t>, Ahmed </a:t>
            </a:r>
            <a:r>
              <a:rPr lang="en-US" dirty="0" err="1"/>
              <a:t>Omran</a:t>
            </a:r>
            <a:r>
              <a:rPr lang="en-US" dirty="0"/>
              <a:t>, Jan Skoglund, Marco </a:t>
            </a:r>
            <a:r>
              <a:rPr lang="en-US" dirty="0" err="1"/>
              <a:t>Tagliasacchi</a:t>
            </a:r>
            <a:r>
              <a:rPr lang="en-US" dirty="0"/>
              <a:t>. 2021. "</a:t>
            </a:r>
            <a:r>
              <a:rPr lang="en-US" dirty="0" err="1"/>
              <a:t>SoundStream</a:t>
            </a:r>
            <a:r>
              <a:rPr lang="en-US" dirty="0"/>
              <a:t>: An End-to-End Neural Audio Codec".</a:t>
            </a:r>
          </a:p>
          <a:p>
            <a:r>
              <a:rPr lang="en-US" dirty="0"/>
              <a:t>Alexandre </a:t>
            </a:r>
            <a:r>
              <a:rPr lang="en-US" dirty="0" err="1"/>
              <a:t>Défossez</a:t>
            </a:r>
            <a:r>
              <a:rPr lang="en-US" dirty="0"/>
              <a:t>, Jade </a:t>
            </a:r>
            <a:r>
              <a:rPr lang="en-US" dirty="0" err="1"/>
              <a:t>Copet</a:t>
            </a:r>
            <a:r>
              <a:rPr lang="en-US" dirty="0"/>
              <a:t>, Gabriel </a:t>
            </a:r>
            <a:r>
              <a:rPr lang="en-US" dirty="0" err="1"/>
              <a:t>Synnaeve</a:t>
            </a:r>
            <a:r>
              <a:rPr lang="en-US" dirty="0"/>
              <a:t>, Yossi Adi. 2022. "High Fidelity Neural Audio Compression".</a:t>
            </a:r>
          </a:p>
          <a:p>
            <a:r>
              <a:rPr lang="en-US" dirty="0">
                <a:hlinkClick r:id="rId2"/>
              </a:rPr>
              <a:t>https://</a:t>
            </a:r>
            <a:r>
              <a:rPr lang="en-US" dirty="0" err="1">
                <a:hlinkClick r:id="rId2"/>
              </a:rPr>
              <a:t>pytorch.org</a:t>
            </a:r>
            <a:endParaRPr lang="en-US" dirty="0"/>
          </a:p>
          <a:p>
            <a:r>
              <a:rPr lang="en-US" dirty="0">
                <a:hlinkClick r:id="rId3"/>
              </a:rPr>
              <a:t>https://github.com/xserra/audio-coding-materials/</a:t>
            </a:r>
            <a:endParaRPr lang="en-US" dirty="0"/>
          </a:p>
          <a:p>
            <a:pPr lvl="1"/>
            <a:r>
              <a:rPr lang="en-US" dirty="0"/>
              <a:t>examples/convolutional-autoencoder-</a:t>
            </a:r>
            <a:r>
              <a:rPr lang="en-US" dirty="0" err="1"/>
              <a:t>simple.ipynb</a:t>
            </a:r>
            <a:endParaRPr lang="en-US" dirty="0"/>
          </a:p>
          <a:p>
            <a:pPr lvl="1"/>
            <a:r>
              <a:rPr lang="en-US" dirty="0"/>
              <a:t>examples/convolutional-autoencoder-</a:t>
            </a:r>
            <a:r>
              <a:rPr lang="en-US" dirty="0" err="1"/>
              <a:t>complex.ipynb</a:t>
            </a:r>
            <a:endParaRPr lang="en-US" dirty="0"/>
          </a:p>
        </p:txBody>
      </p:sp>
    </p:spTree>
    <p:extLst>
      <p:ext uri="{BB962C8B-B14F-4D97-AF65-F5344CB8AC3E}">
        <p14:creationId xmlns:p14="http://schemas.microsoft.com/office/powerpoint/2010/main" val="2490322254"/>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9746</TotalTime>
  <Words>1590</Words>
  <Application>Microsoft Macintosh PowerPoint</Application>
  <PresentationFormat>On-screen Show (16:9)</PresentationFormat>
  <Paragraphs>117</Paragraphs>
  <Slides>26</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Lato</vt:lpstr>
      <vt:lpstr>Raleway</vt:lpstr>
      <vt:lpstr>Arial</vt:lpstr>
      <vt:lpstr>Simple Light</vt:lpstr>
      <vt:lpstr>6. Neural  audio compression</vt:lpstr>
      <vt:lpstr>Index</vt:lpstr>
      <vt:lpstr>SoundStream</vt:lpstr>
      <vt:lpstr>Encodec</vt:lpstr>
      <vt:lpstr>Results</vt:lpstr>
      <vt:lpstr>Convolutional Neural Networks (CNN)</vt:lpstr>
      <vt:lpstr>What is Convolution?</vt:lpstr>
      <vt:lpstr>Kernels and Feature Detection</vt:lpstr>
      <vt:lpstr>Stride and Padding in CNNs</vt:lpstr>
      <vt:lpstr>Convolutional Layer: Extracting Features</vt:lpstr>
      <vt:lpstr>Non-Linear Activation Functions (ReLU)</vt:lpstr>
      <vt:lpstr>Pooling Layer: Downsampling the Data</vt:lpstr>
      <vt:lpstr>How CNNs Build Hierarchical Representations</vt:lpstr>
      <vt:lpstr>CNNs vs. Traditional Audio Filters</vt:lpstr>
      <vt:lpstr>Convolutional Auto Encoder (CAE)</vt:lpstr>
      <vt:lpstr>How the Encoder Works in Audio Compression</vt:lpstr>
      <vt:lpstr>How the Decoder Works in Audio Compression</vt:lpstr>
      <vt:lpstr>Understanding the Bottleneck: The Key to Compression</vt:lpstr>
      <vt:lpstr>Training the Autoencoder: Loss Function and Optimization</vt:lpstr>
      <vt:lpstr>Gradient descent and learning rate</vt:lpstr>
      <vt:lpstr>The discriminator and perceptual loss</vt:lpstr>
      <vt:lpstr>Residual Vector Quantization (RVQ)</vt:lpstr>
      <vt:lpstr>The transformer layer: context through attention</vt:lpstr>
      <vt:lpstr>Pytorch</vt:lpstr>
      <vt:lpstr>Challenges (current limitations)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xavier serra</cp:lastModifiedBy>
  <cp:revision>10</cp:revision>
  <dcterms:modified xsi:type="dcterms:W3CDTF">2025-11-04T10:06:25Z</dcterms:modified>
</cp:coreProperties>
</file>