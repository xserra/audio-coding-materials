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87" r:id="rId7"/>
    <p:sldId id="288" r:id="rId8"/>
    <p:sldId id="262" r:id="rId9"/>
    <p:sldId id="263" r:id="rId10"/>
    <p:sldId id="265" r:id="rId11"/>
    <p:sldId id="266" r:id="rId12"/>
    <p:sldId id="264" r:id="rId13"/>
    <p:sldId id="285" r:id="rId14"/>
    <p:sldId id="267" r:id="rId15"/>
    <p:sldId id="268" r:id="rId16"/>
    <p:sldId id="286" r:id="rId17"/>
    <p:sldId id="269" r:id="rId18"/>
    <p:sldId id="270" r:id="rId19"/>
    <p:sldId id="271" r:id="rId20"/>
    <p:sldId id="272" r:id="rId21"/>
    <p:sldId id="284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95"/>
  </p:normalViewPr>
  <p:slideViewPr>
    <p:cSldViewPr snapToGrid="0">
      <p:cViewPr varScale="1">
        <p:scale>
          <a:sx n="155" d="100"/>
          <a:sy n="155" d="100"/>
        </p:scale>
        <p:origin x="84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ff6c8ff2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ff6c8ff20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f33106c26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f33106c26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33106c26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33106c262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33106c262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33106c262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F6F4AA8E-AA6C-018B-94DA-DA8D8D137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f33106c262_0_23:notes">
            <a:extLst>
              <a:ext uri="{FF2B5EF4-FFF2-40B4-BE49-F238E27FC236}">
                <a16:creationId xmlns:a16="http://schemas.microsoft.com/office/drawing/2014/main" id="{1722353A-11C8-2F70-E88E-4EA7AD225E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f33106c262_0_23:notes">
            <a:extLst>
              <a:ext uri="{FF2B5EF4-FFF2-40B4-BE49-F238E27FC236}">
                <a16:creationId xmlns:a16="http://schemas.microsoft.com/office/drawing/2014/main" id="{0E124677-5CD9-5F25-CBFD-D0217FFF35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5236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52C92800-6142-DF87-553C-17C4AF49D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f33106c262_0_23:notes">
            <a:extLst>
              <a:ext uri="{FF2B5EF4-FFF2-40B4-BE49-F238E27FC236}">
                <a16:creationId xmlns:a16="http://schemas.microsoft.com/office/drawing/2014/main" id="{03271AD7-2C77-104F-2E65-640DC733F7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f33106c262_0_23:notes">
            <a:extLst>
              <a:ext uri="{FF2B5EF4-FFF2-40B4-BE49-F238E27FC236}">
                <a16:creationId xmlns:a16="http://schemas.microsoft.com/office/drawing/2014/main" id="{CCFC4F36-CF78-0EFF-ABDB-9F339BFD8E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12295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f18d520e3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f18d520e3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f18d520e3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f18d520e3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f33106c26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f33106c262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f18d520e3b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f18d520e3b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33106c26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f33106c262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2471f988c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2471f988c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2471f988c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2471f988c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2075be7db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2075be7db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2075be7db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2075be7db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f18d520e3b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f18d520e3b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f18d520e3b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f18d520e3b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xserra/audio-coding-materials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Psychoacoustic principles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Xavier Serra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Psychoacoustic model in perceptual coding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Auditory system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Critical bands - Bark scale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Hearing threshold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Loudness and frequency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Frequency masking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Spatial hearing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MPEG Audio bit allocation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195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Psychoacoustic model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5865975" y="1868950"/>
            <a:ext cx="3081600" cy="22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Loudness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Critical bands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Masking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Frequency domain</a:t>
            </a:r>
            <a:endParaRPr/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 domain</a:t>
            </a:r>
            <a:endParaRPr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Binaural cues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1486376"/>
            <a:ext cx="5103725" cy="22205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/>
          <p:nvPr/>
        </p:nvSpPr>
        <p:spPr>
          <a:xfrm>
            <a:off x="661350" y="2499275"/>
            <a:ext cx="1322700" cy="10257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Auditory system</a:t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8986" y="789125"/>
            <a:ext cx="6822838" cy="390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Basilar membrane as a filter bank.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Bank of highly overlapping bandpass filters.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The magnitude responses are asymmetric and nonlinear (level dependent).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Non-uniform bandwidth, and the bandwidths increase with increasing frequency.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0A8AC5AD-A9F0-565F-ED62-8E28089D6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F339E9F1-A52B-5D3E-BEB4-4732286DF6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Critical Bands (Bark scale)</a:t>
            </a:r>
            <a:endParaRPr/>
          </a:p>
        </p:txBody>
      </p:sp>
      <p:pic>
        <p:nvPicPr>
          <p:cNvPr id="3" name="Picture 2" descr="A graph of a function&#10;&#10;AI-generated content may be incorrect.">
            <a:extLst>
              <a:ext uri="{FF2B5EF4-FFF2-40B4-BE49-F238E27FC236}">
                <a16:creationId xmlns:a16="http://schemas.microsoft.com/office/drawing/2014/main" id="{A982A153-15F4-CD58-E3A5-40E8945FD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00" y="842904"/>
            <a:ext cx="3606628" cy="2881034"/>
          </a:xfrm>
          <a:prstGeom prst="rect">
            <a:avLst/>
          </a:prstGeom>
        </p:spPr>
      </p:pic>
      <p:pic>
        <p:nvPicPr>
          <p:cNvPr id="5" name="Picture 4" descr="A graph of a function&#10;&#10;AI-generated content may be incorrect.">
            <a:extLst>
              <a:ext uri="{FF2B5EF4-FFF2-40B4-BE49-F238E27FC236}">
                <a16:creationId xmlns:a16="http://schemas.microsoft.com/office/drawing/2014/main" id="{71541D72-B279-2D6E-57A3-ACBD5AC82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108" y="842904"/>
            <a:ext cx="3771412" cy="30225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288A06-2EBF-9E4C-B9F9-E97266D18AEA}"/>
              </a:ext>
            </a:extLst>
          </p:cNvPr>
          <p:cNvSpPr txBox="1"/>
          <p:nvPr/>
        </p:nvSpPr>
        <p:spPr>
          <a:xfrm>
            <a:off x="996020" y="3821539"/>
            <a:ext cx="32457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Critical band mapping from Hz to Bark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4D3351-7B47-03A4-6192-FDA4B0C11123}"/>
              </a:ext>
            </a:extLst>
          </p:cNvPr>
          <p:cNvSpPr txBox="1"/>
          <p:nvPr/>
        </p:nvSpPr>
        <p:spPr>
          <a:xfrm>
            <a:off x="5263192" y="3883857"/>
            <a:ext cx="32457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Critical bandwidth as a function of center frequency</a:t>
            </a:r>
          </a:p>
        </p:txBody>
      </p:sp>
      <p:pic>
        <p:nvPicPr>
          <p:cNvPr id="10" name="Picture 9" descr="A black numbers on a white background&#10;&#10;AI-generated content may be incorrect.">
            <a:extLst>
              <a:ext uri="{FF2B5EF4-FFF2-40B4-BE49-F238E27FC236}">
                <a16:creationId xmlns:a16="http://schemas.microsoft.com/office/drawing/2014/main" id="{91C44F94-6E15-41CC-CE0B-3C584566D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318" y="4218449"/>
            <a:ext cx="4047682" cy="5595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059FE0-B0D2-147A-9A96-25EE0AB8C8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1215" y="4448267"/>
            <a:ext cx="2877685" cy="24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035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A6812BC5-1601-F6B3-8721-3B5B25308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>
            <a:extLst>
              <a:ext uri="{FF2B5EF4-FFF2-40B4-BE49-F238E27FC236}">
                <a16:creationId xmlns:a16="http://schemas.microsoft.com/office/drawing/2014/main" id="{3F555BE6-6594-F7D3-F4C7-6C8BBB9AA0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3024624" cy="9615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Critical band filter bank</a:t>
            </a:r>
            <a:endParaRPr dirty="0"/>
          </a:p>
        </p:txBody>
      </p:sp>
      <p:pic>
        <p:nvPicPr>
          <p:cNvPr id="4" name="Picture 3" descr="A table of numbers and a band&#10;&#10;AI-generated content may be incorrect.">
            <a:extLst>
              <a:ext uri="{FF2B5EF4-FFF2-40B4-BE49-F238E27FC236}">
                <a16:creationId xmlns:a16="http://schemas.microsoft.com/office/drawing/2014/main" id="{63D21149-801D-104F-5D42-E2F89E230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227" y="16218"/>
            <a:ext cx="5648162" cy="5066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47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245798" y="26378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dirty="0"/>
              <a:t>Absolute threshold of hearing</a:t>
            </a:r>
            <a:endParaRPr dirty="0"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7524" y="972065"/>
            <a:ext cx="6002596" cy="3492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9E2E9C-7109-3236-C1C6-2952C6501F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4082" y="4567533"/>
            <a:ext cx="6495836" cy="4342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311700" y="316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Loudness and frequency</a:t>
            </a:r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body" idx="1"/>
          </p:nvPr>
        </p:nvSpPr>
        <p:spPr>
          <a:xfrm>
            <a:off x="311700" y="5000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More sensitive to loudness at mid frequencies than at other frequencies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275" y="870100"/>
            <a:ext cx="5982802" cy="427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Frequency masking - spreading functions</a:t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9176" y="874525"/>
            <a:ext cx="5540697" cy="399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725" y="0"/>
            <a:ext cx="5185598" cy="189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775" y="1893150"/>
            <a:ext cx="7803526" cy="227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1197" y="4169175"/>
            <a:ext cx="7321606" cy="850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Tonality</a:t>
            </a:r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Tonality index 𝞪: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Noisy signal: 𝞪 = 0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Tonal signal: 𝞪 = 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Sharp spectral lines -&gt; signal is periodic -&gt; signal is predictable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can use prediction to approximate if a signal is tonal (by periodicity)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masking band&#10;&#10;Description automatically generated">
            <a:extLst>
              <a:ext uri="{FF2B5EF4-FFF2-40B4-BE49-F238E27FC236}">
                <a16:creationId xmlns:a16="http://schemas.microsoft.com/office/drawing/2014/main" id="{FB811C43-93B1-2245-CF9A-3B296657D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448" y="822837"/>
            <a:ext cx="5114661" cy="40821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15739E-7D28-1E82-774E-2063E0F52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273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Simultaneous masking</a:t>
            </a:r>
          </a:p>
        </p:txBody>
      </p:sp>
    </p:spTree>
    <p:extLst>
      <p:ext uri="{BB962C8B-B14F-4D97-AF65-F5344CB8AC3E}">
        <p14:creationId xmlns:p14="http://schemas.microsoft.com/office/powerpoint/2010/main" val="2739072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151" y="677025"/>
            <a:ext cx="6482975" cy="406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3236" y="998483"/>
            <a:ext cx="5704872" cy="354842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A046F4-E3D7-114B-DE7C-6398A93D3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26273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Global masking threshold</a:t>
            </a:r>
          </a:p>
        </p:txBody>
      </p:sp>
      <p:pic>
        <p:nvPicPr>
          <p:cNvPr id="4" name="Picture 3" descr="A black and white math symbol&#10;&#10;AI-generated content may be incorrect.">
            <a:extLst>
              <a:ext uri="{FF2B5EF4-FFF2-40B4-BE49-F238E27FC236}">
                <a16:creationId xmlns:a16="http://schemas.microsoft.com/office/drawing/2014/main" id="{1957F67A-F52D-7F78-15A3-61D5FD801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86" y="4588093"/>
            <a:ext cx="3962228" cy="51878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AEAF2-5B99-E041-C6C7-154FE2BC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Non-simultaneous masking</a:t>
            </a:r>
          </a:p>
        </p:txBody>
      </p:sp>
      <p:pic>
        <p:nvPicPr>
          <p:cNvPr id="5" name="Picture 4" descr="A graph of a masker&#10;&#10;Description automatically generated">
            <a:extLst>
              <a:ext uri="{FF2B5EF4-FFF2-40B4-BE49-F238E27FC236}">
                <a16:creationId xmlns:a16="http://schemas.microsoft.com/office/drawing/2014/main" id="{DC5C2626-D2F2-883D-3DDB-962C3B068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144" y="1630018"/>
            <a:ext cx="6997884" cy="260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79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311700" y="27870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Spatial Hearing</a:t>
            </a:r>
            <a:endParaRPr dirty="0"/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1"/>
          </p:nvPr>
        </p:nvSpPr>
        <p:spPr>
          <a:xfrm>
            <a:off x="311700" y="875173"/>
            <a:ext cx="8520600" cy="15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Interaural Time Difference (ITD): Different ear arrival time due to different propagation paths.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Interaural Level Difference (ILD): Different sound pressure levels due to shadowing of the head (for high frequencies)</a:t>
            </a:r>
            <a:endParaRPr dirty="0"/>
          </a:p>
        </p:txBody>
      </p:sp>
      <p:pic>
        <p:nvPicPr>
          <p:cNvPr id="136" name="Google Shape;13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9050" y="2200175"/>
            <a:ext cx="3164476" cy="264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>
            <a:spLocks noGrp="1"/>
          </p:cNvSpPr>
          <p:nvPr>
            <p:ph type="body" idx="1"/>
          </p:nvPr>
        </p:nvSpPr>
        <p:spPr>
          <a:xfrm>
            <a:off x="311700" y="552859"/>
            <a:ext cx="8520600" cy="15032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Interaural Coherence (IC): degree of “similarity” between left and right signals at the ears.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Inter-Channel Coherence (ICC): degree of “similarity” between left and right channels.</a:t>
            </a:r>
            <a:endParaRPr dirty="0"/>
          </a:p>
        </p:txBody>
      </p:sp>
      <p:pic>
        <p:nvPicPr>
          <p:cNvPr id="3" name="Picture 2" descr="A black line graph with white text&#10;&#10;Description automatically generated">
            <a:extLst>
              <a:ext uri="{FF2B5EF4-FFF2-40B4-BE49-F238E27FC236}">
                <a16:creationId xmlns:a16="http://schemas.microsoft.com/office/drawing/2014/main" id="{26FD24E5-B4D4-0F15-6CD7-D0F8A2E66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365" y="1971409"/>
            <a:ext cx="4490112" cy="2619232"/>
          </a:xfrm>
          <a:prstGeom prst="rect">
            <a:avLst/>
          </a:prstGeom>
        </p:spPr>
      </p:pic>
      <p:sp>
        <p:nvSpPr>
          <p:cNvPr id="4" name="Google Shape;142;p27">
            <a:extLst>
              <a:ext uri="{FF2B5EF4-FFF2-40B4-BE49-F238E27FC236}">
                <a16:creationId xmlns:a16="http://schemas.microsoft.com/office/drawing/2014/main" id="{5DC9B73C-A373-54F0-5393-304465D30702}"/>
              </a:ext>
            </a:extLst>
          </p:cNvPr>
          <p:cNvSpPr txBox="1">
            <a:spLocks/>
          </p:cNvSpPr>
          <p:nvPr/>
        </p:nvSpPr>
        <p:spPr>
          <a:xfrm>
            <a:off x="1416795" y="4568875"/>
            <a:ext cx="6310410" cy="37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US" dirty="0"/>
              <a:t>Measured frequency-dependent interaural coherence in diffuse reverberation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>
            <a:spLocks noGrp="1"/>
          </p:cNvSpPr>
          <p:nvPr>
            <p:ph type="title"/>
          </p:nvPr>
        </p:nvSpPr>
        <p:spPr>
          <a:xfrm>
            <a:off x="311700" y="38671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MPEG Audio Bit Allocation</a:t>
            </a:r>
            <a:endParaRPr dirty="0"/>
          </a:p>
        </p:txBody>
      </p:sp>
      <p:sp>
        <p:nvSpPr>
          <p:cNvPr id="148" name="Google Shape;148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This process determines number of code bits allocated to each sub-band based on information from the psychoacoustic model.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Algorithm: </a:t>
            </a:r>
            <a:endParaRPr dirty="0"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" dirty="0"/>
              <a:t>Compute noise-to-mask ratio: NMR=SNR-SMR (dB).</a:t>
            </a:r>
            <a:endParaRPr dirty="0"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 dirty="0"/>
              <a:t>Standard provides tables that give estimates for SNR resulting from quantizing to a given number of quantizer levels.</a:t>
            </a:r>
            <a:endParaRPr dirty="0"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dirty="0"/>
              <a:t>Get NMR for each sub-band.</a:t>
            </a:r>
            <a:endParaRPr dirty="0"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dirty="0"/>
              <a:t>Search for sub-band with the lowest NMR.</a:t>
            </a:r>
            <a:endParaRPr dirty="0"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dirty="0"/>
              <a:t>Allocate code bits to this sub-band. </a:t>
            </a:r>
            <a:endParaRPr dirty="0"/>
          </a:p>
          <a:p>
            <a:pPr marL="914400" lvl="1" indent="-310832" algn="l" rtl="0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 dirty="0"/>
              <a:t>If sub-band gets allocated more code bits than appropriate, look up new estimate of SNR and repeat step 1.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>
            <a:spLocks noGrp="1"/>
          </p:cNvSpPr>
          <p:nvPr>
            <p:ph type="title"/>
          </p:nvPr>
        </p:nvSpPr>
        <p:spPr>
          <a:xfrm>
            <a:off x="311700" y="39930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Audio Quality</a:t>
            </a:r>
            <a:endParaRPr dirty="0"/>
          </a:p>
        </p:txBody>
      </p:sp>
      <p:sp>
        <p:nvSpPr>
          <p:cNvPr id="154" name="Google Shape;154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Bitrate 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With too low bit rate, we get compression artifacts 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Ringing.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Pre-echo – sound is heard before it occurs. It is most noticeable in impulsive sounds from percussion instruments such as cymbals.</a:t>
            </a:r>
            <a:endParaRPr dirty="0"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dirty="0"/>
              <a:t>Occurs in transform-based audio compression algorithms.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Quality of encoder and encoding parameters</a:t>
            </a:r>
            <a:endParaRPr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Constant Bit rate encoding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Variable Bit rate encoding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435AE-5225-CB51-5EE4-9734452C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01F5F-C0E3-E44A-F5F8-D1BA5BE1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“Chapter 5: Psychoacoustic principles” in Andreas </a:t>
            </a:r>
            <a:r>
              <a:rPr lang="en-US" dirty="0" err="1"/>
              <a:t>Spanias</a:t>
            </a:r>
            <a:r>
              <a:rPr lang="en-US" dirty="0"/>
              <a:t>, Ted Painter, and Venkatraman </a:t>
            </a:r>
            <a:r>
              <a:rPr lang="en-US" dirty="0" err="1"/>
              <a:t>Atti</a:t>
            </a:r>
            <a:r>
              <a:rPr lang="en-US" dirty="0"/>
              <a:t> (2007). Audio Signal Processing and Coding. John Wiley &amp; Sons, Inc.</a:t>
            </a:r>
          </a:p>
          <a:p>
            <a:r>
              <a:rPr lang="en-US" dirty="0">
                <a:hlinkClick r:id="rId2"/>
              </a:rPr>
              <a:t>https://github.com/xserra/audio-coding-materials/</a:t>
            </a:r>
            <a:endParaRPr lang="en-US" dirty="0"/>
          </a:p>
          <a:p>
            <a:pPr lvl="1"/>
            <a:r>
              <a:rPr lang="en-US" dirty="0"/>
              <a:t>examples/threshold-</a:t>
            </a:r>
            <a:r>
              <a:rPr lang="en-US" dirty="0" err="1"/>
              <a:t>quiet.ipynb</a:t>
            </a:r>
            <a:endParaRPr lang="en-US" dirty="0"/>
          </a:p>
          <a:p>
            <a:pPr lvl="1"/>
            <a:r>
              <a:rPr lang="en-US" dirty="0"/>
              <a:t>examples/bark-</a:t>
            </a:r>
            <a:r>
              <a:rPr lang="en-US" dirty="0" err="1"/>
              <a:t>scale.ipynb</a:t>
            </a:r>
            <a:endParaRPr lang="en-US" dirty="0"/>
          </a:p>
          <a:p>
            <a:pPr lvl="1"/>
            <a:r>
              <a:rPr lang="en-US" dirty="0"/>
              <a:t>examples/frequency-</a:t>
            </a:r>
            <a:r>
              <a:rPr lang="en-US" dirty="0" err="1"/>
              <a:t>masking.ipynb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98404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1891</TotalTime>
  <Words>475</Words>
  <Application>Microsoft Macintosh PowerPoint</Application>
  <PresentationFormat>On-screen Show (16:9)</PresentationFormat>
  <Paragraphs>70</Paragraphs>
  <Slides>21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Simple Light</vt:lpstr>
      <vt:lpstr>4. Psychoacoustic principles</vt:lpstr>
      <vt:lpstr>Index</vt:lpstr>
      <vt:lpstr>Psychoacoustic model</vt:lpstr>
      <vt:lpstr>Auditory system</vt:lpstr>
      <vt:lpstr>PowerPoint Presentation</vt:lpstr>
      <vt:lpstr>Critical Bands (Bark scale)</vt:lpstr>
      <vt:lpstr>Critical band filter bank</vt:lpstr>
      <vt:lpstr>Absolute threshold of hearing</vt:lpstr>
      <vt:lpstr>Loudness and frequency</vt:lpstr>
      <vt:lpstr>Frequency masking - spreading functions</vt:lpstr>
      <vt:lpstr>PowerPoint Presentation</vt:lpstr>
      <vt:lpstr>Tonality</vt:lpstr>
      <vt:lpstr>Simultaneous masking</vt:lpstr>
      <vt:lpstr>PowerPoint Presentation</vt:lpstr>
      <vt:lpstr>Global masking threshold</vt:lpstr>
      <vt:lpstr>Non-simultaneous masking</vt:lpstr>
      <vt:lpstr>Spatial Hearing</vt:lpstr>
      <vt:lpstr>PowerPoint Presentation</vt:lpstr>
      <vt:lpstr>MPEG Audio Bit Allocation</vt:lpstr>
      <vt:lpstr>Audio Quality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xavier serra</cp:lastModifiedBy>
  <cp:revision>12</cp:revision>
  <dcterms:modified xsi:type="dcterms:W3CDTF">2025-10-21T11:51:19Z</dcterms:modified>
</cp:coreProperties>
</file>